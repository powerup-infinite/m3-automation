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4" r:id="rId27"/>
    <p:sldId id="280" r:id="rId28"/>
    <p:sldId id="281" r:id="rId29"/>
    <p:sldId id="285" r:id="rId30"/>
    <p:sldId id="282" r:id="rId31"/>
    <p:sldId id="283" r:id="rId32"/>
    <p:sldId id="286" r:id="rId33"/>
  </p:sldIdLst>
  <p:sldSz cx="9144000" cy="5143500" type="screen16x9"/>
  <p:notesSz cx="6858000" cy="9144000"/>
  <p:embeddedFontLst>
    <p:embeddedFont>
      <p:font typeface="DM Sans" pitchFamily="2" charset="0"/>
      <p:regular r:id="rId35"/>
      <p:bold r:id="rId36"/>
      <p:italic r:id="rId37"/>
      <p:boldItalic r:id="rId38"/>
    </p:embeddedFont>
    <p:embeddedFont>
      <p:font typeface="IBM Plex Sans" panose="020B0503050203000203" pitchFamily="34" charset="0"/>
      <p:regular r:id="rId39"/>
      <p:bold r:id="rId40"/>
      <p:italic r:id="rId41"/>
      <p:boldItalic r:id="rId42"/>
    </p:embeddedFont>
    <p:embeddedFont>
      <p:font typeface="IBM Plex Sans Light" panose="020B0403050203000203" pitchFamily="34" charset="0"/>
      <p:regular r:id="rId43"/>
      <p:bold r:id="rId44"/>
      <p:italic r:id="rId45"/>
      <p:boldItalic r:id="rId46"/>
    </p:embeddedFont>
    <p:embeddedFont>
      <p:font typeface="IBM Plex Sans Medium" panose="020B0603050203000203" pitchFamily="34" charset="0"/>
      <p:regular r:id="rId47"/>
      <p:bold r:id="rId48"/>
      <p:italic r:id="rId49"/>
      <p:boldItalic r:id="rId50"/>
    </p:embeddedFont>
    <p:embeddedFont>
      <p:font typeface="IBM Plex Sans SemiBold" panose="020B0703050203000203" pitchFamily="34" charset="0"/>
      <p:regular r:id="rId51"/>
      <p:bold r:id="rId52"/>
      <p:italic r:id="rId53"/>
      <p:boldItalic r:id="rId5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E5F0806-02EA-4D6C-AF6C-89032A93FBB4}">
  <a:tblStyle styleId="{7E5F0806-02EA-4D6C-AF6C-89032A93FBB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3" d="100"/>
          <a:sy n="93" d="100"/>
        </p:scale>
        <p:origin x="352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5.fntdata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42" Type="http://schemas.openxmlformats.org/officeDocument/2006/relationships/font" Target="fonts/font8.fntdata"/><Relationship Id="rId47" Type="http://schemas.openxmlformats.org/officeDocument/2006/relationships/font" Target="fonts/font13.fntdata"/><Relationship Id="rId50" Type="http://schemas.openxmlformats.org/officeDocument/2006/relationships/font" Target="fonts/font16.fntdata"/><Relationship Id="rId55" Type="http://schemas.openxmlformats.org/officeDocument/2006/relationships/presProps" Target="pres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font" Target="fonts/font6.fntdata"/><Relationship Id="rId45" Type="http://schemas.openxmlformats.org/officeDocument/2006/relationships/font" Target="fonts/font11.fntdata"/><Relationship Id="rId53" Type="http://schemas.openxmlformats.org/officeDocument/2006/relationships/font" Target="fonts/font19.fntdata"/><Relationship Id="rId58" Type="http://schemas.openxmlformats.org/officeDocument/2006/relationships/tableStyles" Target="tableStyles.xml"/><Relationship Id="rId5" Type="http://schemas.openxmlformats.org/officeDocument/2006/relationships/slide" Target="slides/slide3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43" Type="http://schemas.openxmlformats.org/officeDocument/2006/relationships/font" Target="fonts/font9.fntdata"/><Relationship Id="rId48" Type="http://schemas.openxmlformats.org/officeDocument/2006/relationships/font" Target="fonts/font14.fntdata"/><Relationship Id="rId56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font" Target="fonts/font17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4.fntdata"/><Relationship Id="rId46" Type="http://schemas.openxmlformats.org/officeDocument/2006/relationships/font" Target="fonts/font12.fntdata"/><Relationship Id="rId20" Type="http://schemas.openxmlformats.org/officeDocument/2006/relationships/slide" Target="slides/slide18.xml"/><Relationship Id="rId41" Type="http://schemas.openxmlformats.org/officeDocument/2006/relationships/font" Target="fonts/font7.fntdata"/><Relationship Id="rId54" Type="http://schemas.openxmlformats.org/officeDocument/2006/relationships/font" Target="fonts/font2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49" Type="http://schemas.openxmlformats.org/officeDocument/2006/relationships/font" Target="fonts/font15.fntdata"/><Relationship Id="rId57" Type="http://schemas.openxmlformats.org/officeDocument/2006/relationships/theme" Target="theme/theme1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font" Target="fonts/font10.fntdata"/><Relationship Id="rId52" Type="http://schemas.openxmlformats.org/officeDocument/2006/relationships/font" Target="fonts/font18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a7d54cbeab_2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4" name="Google Shape;54;g3a7d54cbeab_2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g3a7d54cbeab_2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7d54cbeab_2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8" name="Google Shape;78;g3a7d54cbeab_2_2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g3a7d54cbeab_2_2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b43925e5e6_3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b43925e5e6_3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29c10e900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828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0" name="Google Shape;130;g3b29c10e900_0_2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g3b29c10e900_0_2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9ffbf73ea_0_4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c9ffbf73ea_0_4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9ffbf73ea_0_4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9ffbf73ea_0_4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7755c1c15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7755c1c15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9ffbf73ea_0_5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c9ffbf73ea_0_5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d7755c1c15_0_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d7755c1c15_0_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9ffbf73ea_0_6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22" name="Google Shape;322;g3c9ffbf73ea_0_637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g3c9ffbf73ea_0_637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c90791c7e9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47" name="Google Shape;347;g3c90791c7e9_0_30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8" name="Google Shape;348;g3c90791c7e9_0_30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a7d54cbeab_2_2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3" name="Google Shape;363;g3a7d54cbeab_2_26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g3a7d54cbeab_2_26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ba7733a1cf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85" name="Google Shape;385;g3ba7733a1cf_0_64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g3ba7733a1cf_0_64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13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ba7733a1cf_0_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93" name="Google Shape;393;g3ba7733a1cf_0_71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g3ba7733a1cf_0_71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14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3d7755c1c15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1" name="Google Shape;401;g3d7755c1c15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d7755c1c15_0_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4" name="Google Shape;444;g3d7755c1c15_0_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d7755c1c15_0_1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d7755c1c15_0_1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3d7755c1c15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2" name="Google Shape;512;g3d7755c1c15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d7755c1c15_0_2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d7755c1c15_0_2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g3d7755c1c15_0_2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4" name="Google Shape;574;g3d7755c1c15_0_2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d7755c1c15_0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d7755c1c15_0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g3d7755c1c15_0_3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6" name="Google Shape;636;g3d7755c1c15_0_3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6" name="Google Shape;666;g3bf36d514f6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67" name="Google Shape;667;g3bf36d514f6_0_2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g3bf36d514f6_0_2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23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bf36d514f6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bf36d514f6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3">
          <a:extLst>
            <a:ext uri="{FF2B5EF4-FFF2-40B4-BE49-F238E27FC236}">
              <a16:creationId xmlns:a16="http://schemas.microsoft.com/office/drawing/2014/main" id="{B3A8CED9-20D0-0309-40CB-CF55520C2D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3bf36d514f6_0_9:notes">
            <a:extLst>
              <a:ext uri="{FF2B5EF4-FFF2-40B4-BE49-F238E27FC236}">
                <a16:creationId xmlns:a16="http://schemas.microsoft.com/office/drawing/2014/main" id="{CC22DED3-523C-5D22-D39E-9A149804B3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3bf36d514f6_0_9:notes">
            <a:extLst>
              <a:ext uri="{FF2B5EF4-FFF2-40B4-BE49-F238E27FC236}">
                <a16:creationId xmlns:a16="http://schemas.microsoft.com/office/drawing/2014/main" id="{587FCD9D-D29A-1D43-6100-70D7135A557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60069398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bf36d514f6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83" name="Google Shape;683;g3bf36d514f6_0_16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g3bf36d514f6_0_16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26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bf36d514f6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bf36d514f6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9">
          <a:extLst>
            <a:ext uri="{FF2B5EF4-FFF2-40B4-BE49-F238E27FC236}">
              <a16:creationId xmlns:a16="http://schemas.microsoft.com/office/drawing/2014/main" id="{77ED41A8-EABD-F41A-B787-B2F6C1BFC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0" name="Google Shape;690;g3bf36d514f6_0_23:notes">
            <a:extLst>
              <a:ext uri="{FF2B5EF4-FFF2-40B4-BE49-F238E27FC236}">
                <a16:creationId xmlns:a16="http://schemas.microsoft.com/office/drawing/2014/main" id="{F5891A80-7E6F-9D29-E458-5D44F2573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1" name="Google Shape;691;g3bf36d514f6_0_23:notes">
            <a:extLst>
              <a:ext uri="{FF2B5EF4-FFF2-40B4-BE49-F238E27FC236}">
                <a16:creationId xmlns:a16="http://schemas.microsoft.com/office/drawing/2014/main" id="{8E5842DB-319F-8033-DE21-1FC33A8EE8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285189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3bf36d514f6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1143000"/>
            <a:ext cx="73152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99" name="Google Shape;699;g3bf36d514f6_0_29:notes"/>
          <p:cNvSpPr txBox="1">
            <a:spLocks noGrp="1"/>
          </p:cNvSpPr>
          <p:nvPr>
            <p:ph type="body" idx="1"/>
          </p:nvPr>
        </p:nvSpPr>
        <p:spPr>
          <a:xfrm>
            <a:off x="914400" y="4400550"/>
            <a:ext cx="73152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g3bf36d514f6_0_29:notes"/>
          <p:cNvSpPr txBox="1">
            <a:spLocks noGrp="1"/>
          </p:cNvSpPr>
          <p:nvPr>
            <p:ph type="sldNum" idx="12"/>
          </p:nvPr>
        </p:nvSpPr>
        <p:spPr>
          <a:xfrm>
            <a:off x="5179484" y="8685213"/>
            <a:ext cx="39624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29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bf36d514f6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bf36d514f6_0_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5">
          <a:extLst>
            <a:ext uri="{FF2B5EF4-FFF2-40B4-BE49-F238E27FC236}">
              <a16:creationId xmlns:a16="http://schemas.microsoft.com/office/drawing/2014/main" id="{96108AD4-D100-15B6-34CF-E0CFA8A196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bf36d514f6_0_36:notes">
            <a:extLst>
              <a:ext uri="{FF2B5EF4-FFF2-40B4-BE49-F238E27FC236}">
                <a16:creationId xmlns:a16="http://schemas.microsoft.com/office/drawing/2014/main" id="{5BEAEED2-BEF1-D121-7A30-5F7C44D28B9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bf36d514f6_0_36:notes">
            <a:extLst>
              <a:ext uri="{FF2B5EF4-FFF2-40B4-BE49-F238E27FC236}">
                <a16:creationId xmlns:a16="http://schemas.microsoft.com/office/drawing/2014/main" id="{7E9AD9CE-07C3-5AF6-E8AA-96C160185EC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58367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4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slide" Target="slide14.xml"/><Relationship Id="rId4" Type="http://schemas.openxmlformats.org/officeDocument/2006/relationships/slide" Target="slide2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/>
          <p:nvPr/>
        </p:nvSpPr>
        <p:spPr>
          <a:xfrm>
            <a:off x="476250" y="3095625"/>
            <a:ext cx="9220200" cy="1571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5625"/>
              <a:buFont typeface="IBM Plex Sans"/>
              <a:buNone/>
            </a:pPr>
            <a:r>
              <a:rPr lang="en-GB" sz="4000" b="0" i="0" u="none" strike="noStrike" cap="none">
                <a:solidFill>
                  <a:srgbClr val="8C8C8C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 Transition</a:t>
            </a:r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4000" b="0" i="0" u="none" strike="noStrike" cap="none">
                <a:solidFill>
                  <a:srgbClr val="8C8C8C"/>
                </a:solidFill>
                <a:latin typeface="IBM Plex Sans"/>
                <a:ea typeface="IBM Plex Sans"/>
                <a:cs typeface="IBM Plex Sans"/>
                <a:sym typeface="IBM Plex Sans"/>
              </a:rPr>
              <a:t>for</a:t>
            </a:r>
            <a:r>
              <a:rPr lang="en-GB" sz="5625" b="0" i="0" u="none" strike="noStrike" cap="non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sz="5625" b="0" i="0" u="none" strike="noStrike" cap="none">
              <a:solidFill>
                <a:srgbClr val="FFFFFF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5625"/>
              <a:buFont typeface="IBM Plex Sans"/>
              <a:buNone/>
            </a:pPr>
            <a:r>
              <a:rPr lang="en-GB" sz="5625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Hari Vootori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15"/>
          <p:cNvSpPr/>
          <p:nvPr/>
        </p:nvSpPr>
        <p:spPr>
          <a:xfrm>
            <a:off x="490538" y="476250"/>
            <a:ext cx="2767013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" name="Google Shape;59;p1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4051" y="574307"/>
            <a:ext cx="202634" cy="167158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5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30964" y="580190"/>
            <a:ext cx="308577" cy="15516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5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44400" y="573960"/>
            <a:ext cx="197313" cy="16750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5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599123" y="519971"/>
            <a:ext cx="217669" cy="22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5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96410" y="476250"/>
            <a:ext cx="87669" cy="874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5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462763" y="574076"/>
            <a:ext cx="111957" cy="161274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 descr="preencoded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43162" y="573960"/>
            <a:ext cx="197082" cy="221377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5" descr="preencoded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490538" y="519971"/>
            <a:ext cx="223452" cy="215378"/>
          </a:xfrm>
          <a:prstGeom prst="rect">
            <a:avLst/>
          </a:prstGeom>
          <a:noFill/>
          <a:ln>
            <a:noFill/>
          </a:ln>
        </p:spPr>
      </p:pic>
      <p:pic>
        <p:nvPicPr>
          <p:cNvPr id="67" name="Google Shape;67;p15" descr="preencoded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2156943" y="489401"/>
            <a:ext cx="32731" cy="246872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descr="preencoded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2233046" y="558041"/>
            <a:ext cx="178345" cy="17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69" name="Google Shape;69;p15" descr="preencoded.png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664221" y="558041"/>
            <a:ext cx="178461" cy="178232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descr="preencoded.png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2578404" y="571307"/>
            <a:ext cx="32037" cy="164966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 descr="preencoded.png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2877380" y="483864"/>
            <a:ext cx="43025" cy="252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descr="preencoded.png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2572851" y="483864"/>
            <a:ext cx="43025" cy="42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descr="preencoded.png"/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2956259" y="498861"/>
            <a:ext cx="98657" cy="2382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descr="preencoded.png"/>
          <p:cNvPicPr preferRelativeResize="0"/>
          <p:nvPr/>
        </p:nvPicPr>
        <p:blipFill rotWithShape="1">
          <a:blip r:embed="rId18">
            <a:alphaModFix/>
          </a:blip>
          <a:srcRect/>
          <a:stretch/>
        </p:blipFill>
        <p:spPr>
          <a:xfrm>
            <a:off x="3077353" y="543736"/>
            <a:ext cx="180196" cy="193344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5" descr="preencoded.png"/>
          <p:cNvPicPr preferRelativeResize="0"/>
          <p:nvPr/>
        </p:nvPicPr>
        <p:blipFill rotWithShape="1">
          <a:blip r:embed="rId19">
            <a:alphaModFix/>
          </a:blip>
          <a:srcRect/>
          <a:stretch/>
        </p:blipFill>
        <p:spPr>
          <a:xfrm>
            <a:off x="2442042" y="476250"/>
            <a:ext cx="104787" cy="2600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/>
          <p:nvPr/>
        </p:nvSpPr>
        <p:spPr>
          <a:xfrm>
            <a:off x="4972050" y="476250"/>
            <a:ext cx="3233738" cy="15478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6"/>
          <p:cNvSpPr/>
          <p:nvPr/>
        </p:nvSpPr>
        <p:spPr>
          <a:xfrm>
            <a:off x="0" y="0"/>
            <a:ext cx="44958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6"/>
          <p:cNvSpPr/>
          <p:nvPr/>
        </p:nvSpPr>
        <p:spPr>
          <a:xfrm>
            <a:off x="4972050" y="476250"/>
            <a:ext cx="3690938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IBM Plex Sans"/>
              <a:buNone/>
            </a:pPr>
            <a:r>
              <a:rPr lang="en-GB" sz="225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Infinite plan is now ready to move from design to delivery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16"/>
          <p:cNvSpPr/>
          <p:nvPr/>
        </p:nvSpPr>
        <p:spPr>
          <a:xfrm>
            <a:off x="385763" y="3619500"/>
            <a:ext cx="4090988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8C8C8C"/>
              </a:buClr>
              <a:buSzPts val="3750"/>
              <a:buFont typeface="IBM Plex Sans"/>
              <a:buNone/>
            </a:pPr>
            <a:r>
              <a:rPr lang="en-GB" sz="3000" b="0" i="0" u="none" strike="noStrike" cap="none">
                <a:solidFill>
                  <a:srgbClr val="8C8C8C"/>
                </a:solidFill>
                <a:latin typeface="IBM Plex Sans"/>
                <a:ea typeface="IBM Plex Sans"/>
                <a:cs typeface="IBM Plex Sans"/>
                <a:sym typeface="IBM Plex Sans"/>
              </a:rPr>
              <a:t>Welcome Back,</a:t>
            </a:r>
            <a:endParaRPr sz="3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50"/>
              <a:buFont typeface="IBM Plex Sans"/>
              <a:buNone/>
            </a:pPr>
            <a:r>
              <a:rPr lang="en-GB" sz="3750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Hari</a:t>
            </a:r>
            <a:endParaRPr sz="3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6"/>
          <p:cNvSpPr/>
          <p:nvPr/>
        </p:nvSpPr>
        <p:spPr>
          <a:xfrm>
            <a:off x="4972050" y="1704975"/>
            <a:ext cx="3690938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Every step carefully planned, every action aligned with your goals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/>
          <p:nvPr/>
        </p:nvSpPr>
        <p:spPr>
          <a:xfrm>
            <a:off x="429775" y="2930790"/>
            <a:ext cx="3129000" cy="1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18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2" name="Google Shape;92;p17"/>
          <p:cNvSpPr/>
          <p:nvPr/>
        </p:nvSpPr>
        <p:spPr>
          <a:xfrm>
            <a:off x="476250" y="345017"/>
            <a:ext cx="5400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50"/>
              <a:buFont typeface="IBM Plex Sans"/>
              <a:buNone/>
            </a:pPr>
            <a:r>
              <a:rPr lang="en-GB" sz="2250">
                <a:latin typeface="IBM Plex Sans"/>
                <a:ea typeface="IBM Plex Sans"/>
                <a:cs typeface="IBM Plex Sans"/>
                <a:sym typeface="IBM Plex Sans"/>
              </a:rPr>
              <a:t>A quick recap, Hari</a:t>
            </a:r>
            <a:endParaRPr sz="22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7"/>
          <p:cNvSpPr/>
          <p:nvPr/>
        </p:nvSpPr>
        <p:spPr>
          <a:xfrm>
            <a:off x="429775" y="3410814"/>
            <a:ext cx="31290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Investment with Infinite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7"/>
          <p:cNvSpPr/>
          <p:nvPr/>
        </p:nvSpPr>
        <p:spPr>
          <a:xfrm>
            <a:off x="429775" y="3586095"/>
            <a:ext cx="3248100" cy="21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₹~3 Cr</a:t>
            </a:r>
            <a:r>
              <a:rPr lang="en-GB" sz="24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GB" sz="1500" b="0" i="0" u="none" strike="noStrike" cap="none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with</a:t>
            </a:r>
            <a:r>
              <a:rPr lang="en-GB" sz="24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GB" sz="18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₹50K*</a:t>
            </a:r>
            <a:r>
              <a:rPr lang="en-GB" sz="24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r>
              <a:rPr lang="en-GB" sz="1500" b="0" i="0" u="none" strike="noStrike" cap="none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monthly SIP</a:t>
            </a: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429775" y="2727640"/>
            <a:ext cx="31290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Risk Profile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476250" y="721255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4393530" y="1241049"/>
            <a:ext cx="19866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1050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Ideal Portfolio</a:t>
            </a:r>
            <a:endParaRPr sz="1050">
              <a:solidFill>
                <a:srgbClr val="6A6E6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476250" y="721255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About you, your goals and investments with Infinite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429775" y="2182709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5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Retirement Planning</a:t>
            </a:r>
            <a:endParaRPr sz="15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Home Purchase</a:t>
            </a:r>
            <a:endParaRPr sz="12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Children Education</a:t>
            </a:r>
            <a:endParaRPr sz="12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endParaRPr sz="180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429775" y="1743344"/>
            <a:ext cx="10383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 b="0" i="0" u="none" strike="noStrike" cap="none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Goal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4833810" y="2789642"/>
            <a:ext cx="1009800" cy="2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Portfolio</a:t>
            </a:r>
            <a:endParaRPr sz="96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ctr" rtl="0">
              <a:lnSpc>
                <a:spcPct val="120104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"/>
              <a:buFont typeface="IBM Plex Sans"/>
              <a:buNone/>
            </a:pPr>
            <a:r>
              <a:rPr lang="en-GB" sz="960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96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6968714" y="3412622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7"/>
          <p:cNvSpPr/>
          <p:nvPr/>
        </p:nvSpPr>
        <p:spPr>
          <a:xfrm>
            <a:off x="6810325" y="3460975"/>
            <a:ext cx="8925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7"/>
          <p:cNvSpPr/>
          <p:nvPr/>
        </p:nvSpPr>
        <p:spPr>
          <a:xfrm>
            <a:off x="6810375" y="2414526"/>
            <a:ext cx="1116600" cy="79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7"/>
          <p:cNvSpPr/>
          <p:nvPr/>
        </p:nvSpPr>
        <p:spPr>
          <a:xfrm>
            <a:off x="6810325" y="2414526"/>
            <a:ext cx="1116600" cy="1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6810325" y="2723403"/>
            <a:ext cx="61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7"/>
          <p:cNvSpPr/>
          <p:nvPr/>
        </p:nvSpPr>
        <p:spPr>
          <a:xfrm>
            <a:off x="6831175" y="2723403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6831175" y="2919610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7"/>
          <p:cNvSpPr/>
          <p:nvPr/>
        </p:nvSpPr>
        <p:spPr>
          <a:xfrm>
            <a:off x="6831175" y="3115818"/>
            <a:ext cx="591000" cy="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6865088" y="3115818"/>
            <a:ext cx="95100" cy="95100"/>
          </a:xfrm>
          <a:prstGeom prst="roundRect">
            <a:avLst>
              <a:gd name="adj" fmla="val 16667"/>
            </a:avLst>
          </a:prstGeom>
          <a:solidFill>
            <a:srgbClr val="6DB0F2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7"/>
          <p:cNvSpPr/>
          <p:nvPr/>
        </p:nvSpPr>
        <p:spPr>
          <a:xfrm>
            <a:off x="6865088" y="2919610"/>
            <a:ext cx="95100" cy="95100"/>
          </a:xfrm>
          <a:prstGeom prst="roundRect">
            <a:avLst>
              <a:gd name="adj" fmla="val 16667"/>
            </a:avLst>
          </a:prstGeom>
          <a:solidFill>
            <a:srgbClr val="4E9EED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7"/>
          <p:cNvSpPr/>
          <p:nvPr/>
        </p:nvSpPr>
        <p:spPr>
          <a:xfrm>
            <a:off x="6865088" y="2723403"/>
            <a:ext cx="95100" cy="951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230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7"/>
          <p:cNvSpPr/>
          <p:nvPr/>
        </p:nvSpPr>
        <p:spPr>
          <a:xfrm>
            <a:off x="6810325" y="2414526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2E8AE5"/>
          </a:solidFill>
          <a:ln w="3167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7"/>
          <p:cNvSpPr/>
          <p:nvPr/>
        </p:nvSpPr>
        <p:spPr>
          <a:xfrm>
            <a:off x="6810325" y="3460975"/>
            <a:ext cx="130800" cy="130800"/>
          </a:xfrm>
          <a:prstGeom prst="roundRect">
            <a:avLst>
              <a:gd name="adj" fmla="val 16667"/>
            </a:avLst>
          </a:prstGeom>
          <a:solidFill>
            <a:srgbClr val="FFE2B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7"/>
          <p:cNvSpPr/>
          <p:nvPr/>
        </p:nvSpPr>
        <p:spPr>
          <a:xfrm>
            <a:off x="7015976" y="3120575"/>
            <a:ext cx="962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Conservative</a:t>
            </a:r>
            <a:endParaRPr sz="95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7"/>
          <p:cNvSpPr/>
          <p:nvPr/>
        </p:nvSpPr>
        <p:spPr>
          <a:xfrm>
            <a:off x="7983198" y="3120570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10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7" name="Google Shape;117;p17"/>
          <p:cNvSpPr/>
          <p:nvPr/>
        </p:nvSpPr>
        <p:spPr>
          <a:xfrm>
            <a:off x="6991300" y="2924362"/>
            <a:ext cx="814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Balanced</a:t>
            </a:r>
            <a:endParaRPr sz="954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7983198" y="2924362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40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6991300" y="2728161"/>
            <a:ext cx="8955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Aggressive</a:t>
            </a:r>
            <a:endParaRPr sz="954" i="0" u="none" strike="noStrike" cap="non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7983198" y="2728154"/>
            <a:ext cx="719100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40041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954"/>
              <a:buFont typeface="IBM Plex Sans"/>
              <a:buNone/>
            </a:pPr>
            <a:r>
              <a:rPr lang="en-GB" sz="954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30</a:t>
            </a:r>
            <a:r>
              <a:rPr lang="en-GB" sz="954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954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1" name="Google Shape;121;p17"/>
          <p:cNvSpPr/>
          <p:nvPr/>
        </p:nvSpPr>
        <p:spPr>
          <a:xfrm>
            <a:off x="6978775" y="2422712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Equity</a:t>
            </a:r>
            <a:endParaRPr sz="1310" i="0" u="none" strike="noStrike" cap="non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22" name="Google Shape;122;p17"/>
          <p:cNvSpPr/>
          <p:nvPr/>
        </p:nvSpPr>
        <p:spPr>
          <a:xfrm>
            <a:off x="7899102" y="2422715"/>
            <a:ext cx="8145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80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23" name="Google Shape;123;p17"/>
          <p:cNvSpPr/>
          <p:nvPr/>
        </p:nvSpPr>
        <p:spPr>
          <a:xfrm>
            <a:off x="7054975" y="3469175"/>
            <a:ext cx="1116600" cy="9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Hybrid</a:t>
            </a:r>
            <a:endParaRPr sz="131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7"/>
          <p:cNvSpPr/>
          <p:nvPr/>
        </p:nvSpPr>
        <p:spPr>
          <a:xfrm>
            <a:off x="7975056" y="3469164"/>
            <a:ext cx="719100" cy="1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39923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310"/>
              <a:buFont typeface="IBM Plex Sans"/>
              <a:buNone/>
            </a:pPr>
            <a:r>
              <a:rPr lang="en-GB" sz="131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20</a:t>
            </a:r>
            <a:r>
              <a:rPr lang="en-GB" sz="1310" i="0" u="none" strike="noStrike" cap="none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</a:t>
            </a:r>
            <a:endParaRPr sz="1310" i="0" u="none" strike="noStrike" cap="none">
              <a:solidFill>
                <a:srgbClr val="000000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pic>
        <p:nvPicPr>
          <p:cNvPr id="125" name="Google Shape;125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2046" y="1344046"/>
            <a:ext cx="5053299" cy="3124616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7"/>
          <p:cNvSpPr/>
          <p:nvPr/>
        </p:nvSpPr>
        <p:spPr>
          <a:xfrm>
            <a:off x="6153568" y="4972254"/>
            <a:ext cx="3269091" cy="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900" dirty="0">
                <a:solidFill>
                  <a:srgbClr val="93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*Gold only for SIPs, for Lumpsum replaced with Hybrid</a:t>
            </a:r>
            <a:endParaRPr sz="900" dirty="0">
              <a:solidFill>
                <a:srgbClr val="93939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18"/>
          <p:cNvGraphicFramePr/>
          <p:nvPr/>
        </p:nvGraphicFramePr>
        <p:xfrm>
          <a:off x="550350" y="1286697"/>
          <a:ext cx="3913200" cy="4039349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26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1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5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437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9393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 u="none" strike="noStrike" cap="none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Portfolio</a:t>
                      </a:r>
                      <a:endParaRPr u="none" strike="noStrike" cap="none">
                        <a:solidFill>
                          <a:srgbClr val="000000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9393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Allocation</a:t>
                      </a:r>
                      <a:endParaRPr sz="1050">
                        <a:solidFill>
                          <a:srgbClr val="939393"/>
                        </a:solidFill>
                        <a:latin typeface="IBM Plex Sans SemiBold"/>
                        <a:ea typeface="IBM Plex Sans SemiBold"/>
                        <a:cs typeface="IBM Plex Sans SemiBold"/>
                        <a:sym typeface="IBM Plex Sans Semi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# of funds</a:t>
                      </a:r>
                      <a:endParaRPr sz="95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>
                          <a:latin typeface="IBM Plex Sans SemiBold"/>
                          <a:ea typeface="IBM Plex Sans SemiBold"/>
                          <a:cs typeface="IBM Plex Sans SemiBold"/>
                          <a:sym typeface="IBM Plex Sans SemiBold"/>
                        </a:rPr>
                        <a:t>Equity</a:t>
                      </a:r>
                      <a:endParaRPr u="none" strike="noStrike" cap="none">
                        <a:latin typeface="IBM Plex Sans SemiBold"/>
                        <a:ea typeface="IBM Plex Sans SemiBold"/>
                        <a:cs typeface="IBM Plex Sans SemiBold"/>
                        <a:sym typeface="IBM Plex Sans Semi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600"/>
                        <a:buFont typeface="IBM Plex Sans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 SemiBold"/>
                          <a:ea typeface="IBM Plex Sans SemiBold"/>
                          <a:cs typeface="IBM Plex Sans SemiBold"/>
                          <a:sym typeface="IBM Plex Sans SemiBold"/>
                        </a:rPr>
                        <a:t>40K | 80%</a:t>
                      </a:r>
                      <a:endParaRPr sz="1500">
                        <a:solidFill>
                          <a:schemeClr val="dk1"/>
                        </a:solidFill>
                        <a:latin typeface="IBM Plex Sans SemiBold"/>
                        <a:ea typeface="IBM Plex Sans SemiBold"/>
                        <a:cs typeface="IBM Plex Sans SemiBold"/>
                        <a:sym typeface="IBM Plex Sans Semi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SemiBold"/>
                          <a:ea typeface="IBM Plex Sans SemiBold"/>
                          <a:cs typeface="IBM Plex Sans SemiBold"/>
                          <a:sym typeface="IBM Plex Sans SemiBold"/>
                        </a:rPr>
                        <a:t>9</a:t>
                      </a:r>
                      <a:endParaRPr sz="800">
                        <a:solidFill>
                          <a:schemeClr val="dk1"/>
                        </a:solidFill>
                        <a:latin typeface="IBM Plex Sans SemiBold"/>
                        <a:ea typeface="IBM Plex Sans SemiBold"/>
                        <a:cs typeface="IBM Plex Sans SemiBold"/>
                        <a:sym typeface="IBM Plex Sans Semi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Aggressive</a:t>
                      </a:r>
                      <a:endParaRPr u="none" strike="noStrike" cap="none"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IBM Plex Sans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15K | 30%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4</a:t>
                      </a:r>
                      <a:endParaRPr sz="800">
                        <a:solidFill>
                          <a:schemeClr val="dk1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Mid Cap</a:t>
                      </a:r>
                      <a:endParaRPr sz="9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7.5K | 15%</a:t>
                      </a:r>
                      <a:endParaRPr sz="9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     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</a:t>
                      </a:r>
                      <a:endParaRPr sz="8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Small Cap</a:t>
                      </a:r>
                      <a:endParaRPr sz="9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7.5K | 15%</a:t>
                      </a:r>
                      <a:endParaRPr sz="9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     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</a:t>
                      </a:r>
                      <a:endParaRPr sz="8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Balanced</a:t>
                      </a:r>
                      <a:endParaRPr u="none" strike="noStrike" cap="none"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IBM Plex Sans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20K | 40%</a:t>
                      </a:r>
                      <a:endParaRPr sz="900">
                        <a:solidFill>
                          <a:schemeClr val="dk1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4</a:t>
                      </a:r>
                      <a:endParaRPr sz="800">
                        <a:solidFill>
                          <a:schemeClr val="dk1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Flexi Cap</a:t>
                      </a:r>
                      <a:endParaRPr sz="9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10K | 20%</a:t>
                      </a:r>
                      <a:endParaRPr sz="9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     </a:t>
                      </a: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</a:t>
                      </a:r>
                      <a:endParaRPr sz="8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Value &amp; Contra</a:t>
                      </a:r>
                      <a:endParaRPr sz="9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10K | 20%</a:t>
                      </a:r>
                      <a:endParaRPr sz="9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     2</a:t>
                      </a:r>
                      <a:endParaRPr sz="800">
                        <a:solidFill>
                          <a:schemeClr val="dk1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Conservative</a:t>
                      </a:r>
                      <a:endParaRPr u="none" strike="noStrike" cap="none"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IBM Plex Sans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5K | 10%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1</a:t>
                      </a:r>
                      <a:endParaRPr sz="800">
                        <a:solidFill>
                          <a:schemeClr val="dk1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Large Cap</a:t>
                      </a:r>
                      <a:endParaRPr sz="9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7.5K | 10%</a:t>
                      </a:r>
                      <a:endParaRPr sz="9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     </a:t>
                      </a:r>
                      <a:r>
                        <a:rPr lang="en-GB" sz="800">
                          <a:solidFill>
                            <a:srgbClr val="6A6E6E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</a:t>
                      </a:r>
                      <a:endParaRPr sz="800">
                        <a:solidFill>
                          <a:srgbClr val="6A6E6E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>
                          <a:latin typeface="IBM Plex Sans SemiBold"/>
                          <a:ea typeface="IBM Plex Sans SemiBold"/>
                          <a:cs typeface="IBM Plex Sans SemiBold"/>
                          <a:sym typeface="IBM Plex Sans SemiBold"/>
                        </a:rPr>
                        <a:t>Hybrid</a:t>
                      </a:r>
                      <a:endParaRPr u="none" strike="noStrike" cap="none">
                        <a:latin typeface="IBM Plex Sans SemiBold"/>
                        <a:ea typeface="IBM Plex Sans SemiBold"/>
                        <a:cs typeface="IBM Plex Sans SemiBold"/>
                        <a:sym typeface="IBM Plex Sans Semi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600"/>
                        <a:buFont typeface="IBM Plex Sans"/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 SemiBold"/>
                          <a:ea typeface="IBM Plex Sans SemiBold"/>
                          <a:cs typeface="IBM Plex Sans SemiBold"/>
                          <a:sym typeface="IBM Plex Sans SemiBold"/>
                        </a:rPr>
                        <a:t>10K | 20%</a:t>
                      </a:r>
                      <a:endParaRPr sz="1500" u="none" strike="noStrike" cap="none">
                        <a:solidFill>
                          <a:schemeClr val="dk1"/>
                        </a:solidFill>
                        <a:latin typeface="IBM Plex Sans SemiBold"/>
                        <a:ea typeface="IBM Plex Sans SemiBold"/>
                        <a:cs typeface="IBM Plex Sans SemiBold"/>
                        <a:sym typeface="IBM Plex Sans SemiBold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</a:t>
                      </a:r>
                      <a:endParaRPr sz="800">
                        <a:solidFill>
                          <a:schemeClr val="dk1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Dynamic Asset</a:t>
                      </a:r>
                      <a:endParaRPr sz="95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 5K | 10%</a:t>
                      </a:r>
                      <a:endParaRPr sz="9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1</a:t>
                      </a:r>
                      <a:endParaRPr sz="800">
                        <a:solidFill>
                          <a:schemeClr val="dk1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875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Multi Asset</a:t>
                      </a:r>
                      <a:endParaRPr sz="95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   5K | 10%</a:t>
                      </a:r>
                      <a:endParaRPr sz="900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     1</a:t>
                      </a:r>
                      <a:endParaRPr sz="800">
                        <a:solidFill>
                          <a:schemeClr val="dk1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Total</a:t>
                      </a:r>
                      <a:endParaRPr sz="95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50K | 100%</a:t>
                      </a:r>
                      <a:endParaRPr sz="9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</a:t>
                      </a:r>
                      <a:endParaRPr sz="90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134" name="Google Shape;134;p18"/>
          <p:cNvSpPr/>
          <p:nvPr/>
        </p:nvSpPr>
        <p:spPr>
          <a:xfrm>
            <a:off x="476250" y="378883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Now, let’s look at y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our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ideal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 SIP strategy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8"/>
          <p:cNvSpPr/>
          <p:nvPr/>
        </p:nvSpPr>
        <p:spPr>
          <a:xfrm>
            <a:off x="476250" y="721255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100% direct, Optimally allocated &amp; Top-ranked funds only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5505893" y="2000721"/>
            <a:ext cx="324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Lower expense ratio - Better overall returns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8"/>
          <p:cNvSpPr/>
          <p:nvPr/>
        </p:nvSpPr>
        <p:spPr>
          <a:xfrm>
            <a:off x="5505893" y="1742488"/>
            <a:ext cx="270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6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100% Direct Funds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8"/>
          <p:cNvSpPr/>
          <p:nvPr/>
        </p:nvSpPr>
        <p:spPr>
          <a:xfrm>
            <a:off x="5505893" y="2949546"/>
            <a:ext cx="324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Right mix across growth, core and stability 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8"/>
          <p:cNvSpPr/>
          <p:nvPr/>
        </p:nvSpPr>
        <p:spPr>
          <a:xfrm>
            <a:off x="5505893" y="2691313"/>
            <a:ext cx="360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6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Optimal Allocation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8"/>
          <p:cNvSpPr/>
          <p:nvPr/>
        </p:nvSpPr>
        <p:spPr>
          <a:xfrm>
            <a:off x="5505893" y="3898371"/>
            <a:ext cx="3240000" cy="1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top ranked funds in every sub-category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8"/>
          <p:cNvSpPr/>
          <p:nvPr/>
        </p:nvSpPr>
        <p:spPr>
          <a:xfrm>
            <a:off x="5505893" y="3640138"/>
            <a:ext cx="2700000" cy="2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6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Top ranked funds</a:t>
            </a:r>
            <a:endParaRPr sz="16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2" name="Google Shape;142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837" y="1857700"/>
            <a:ext cx="180000" cy="1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837" y="2806525"/>
            <a:ext cx="180000" cy="19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4837" y="3755350"/>
            <a:ext cx="180000" cy="19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/>
          <p:nvPr/>
        </p:nvSpPr>
        <p:spPr>
          <a:xfrm>
            <a:off x="474143" y="1024418"/>
            <a:ext cx="2700000" cy="1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Monthly SIP with Infinite: </a:t>
            </a:r>
            <a:r>
              <a:rPr lang="en-GB" sz="105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INR 50,000*</a:t>
            </a:r>
            <a:r>
              <a:rPr lang="en-GB" sz="1050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 </a:t>
            </a:r>
            <a:endParaRPr sz="105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8"/>
          <p:cNvSpPr/>
          <p:nvPr/>
        </p:nvSpPr>
        <p:spPr>
          <a:xfrm>
            <a:off x="7545600" y="4973763"/>
            <a:ext cx="2700000" cy="9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IBM Plex Sans"/>
              <a:buNone/>
            </a:pPr>
            <a:r>
              <a:rPr lang="en-GB" sz="800" i="0" u="none" strike="noStrike" cap="none">
                <a:solidFill>
                  <a:srgbClr val="99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*</a:t>
            </a:r>
            <a:r>
              <a:rPr lang="en-GB" sz="800">
                <a:solidFill>
                  <a:srgbClr val="99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dates to be finalised</a:t>
            </a:r>
            <a:endParaRPr sz="800" i="0" u="none" strike="noStrike" cap="none">
              <a:solidFill>
                <a:srgbClr val="00000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9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153" name="Google Shape;153;p19"/>
          <p:cNvSpPr/>
          <p:nvPr/>
        </p:nvSpPr>
        <p:spPr>
          <a:xfrm>
            <a:off x="300976" y="1351184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Equity - Aggressive | 30%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Mid | Small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54" name="Google Shape;154;p19"/>
          <p:cNvSpPr/>
          <p:nvPr/>
        </p:nvSpPr>
        <p:spPr>
          <a:xfrm>
            <a:off x="6079487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155" name="Google Shape;155;p19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56" name="Google Shape;156;p1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19275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157" name="Google Shape;157;p19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58" name="Google Shape;158;p19"/>
          <p:cNvGraphicFramePr/>
          <p:nvPr/>
        </p:nvGraphicFramePr>
        <p:xfrm>
          <a:off x="572501" y="1937045"/>
          <a:ext cx="2035750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Invesco India Mid Cap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9" name="Google Shape;159;p19"/>
          <p:cNvGraphicFramePr/>
          <p:nvPr/>
        </p:nvGraphicFramePr>
        <p:xfrm>
          <a:off x="6151050" y="1937045"/>
          <a:ext cx="1569900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24%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(+1%)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0" name="Google Shape;160;p19"/>
          <p:cNvGraphicFramePr/>
          <p:nvPr/>
        </p:nvGraphicFramePr>
        <p:xfrm>
          <a:off x="7533901" y="1937045"/>
          <a:ext cx="151382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10,058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1" name="Google Shape;161;p19"/>
          <p:cNvGraphicFramePr/>
          <p:nvPr/>
        </p:nvGraphicFramePr>
        <p:xfrm>
          <a:off x="572501" y="2551107"/>
          <a:ext cx="2035750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Mid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2" name="Google Shape;162;p19"/>
          <p:cNvGraphicFramePr/>
          <p:nvPr/>
        </p:nvGraphicFramePr>
        <p:xfrm>
          <a:off x="6151050" y="2551107"/>
          <a:ext cx="1569900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25%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(+2%)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3" name="Google Shape;163;p19"/>
          <p:cNvGraphicFramePr/>
          <p:nvPr/>
        </p:nvGraphicFramePr>
        <p:xfrm>
          <a:off x="7533901" y="2551107"/>
          <a:ext cx="151382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92,186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4" name="Google Shape;164;p19"/>
          <p:cNvGraphicFramePr/>
          <p:nvPr/>
        </p:nvGraphicFramePr>
        <p:xfrm>
          <a:off x="572501" y="3165170"/>
          <a:ext cx="2035750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Bandhan Small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5" name="Google Shape;165;p19"/>
          <p:cNvGraphicFramePr/>
          <p:nvPr/>
        </p:nvGraphicFramePr>
        <p:xfrm>
          <a:off x="6151050" y="3165170"/>
          <a:ext cx="1569900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6" name="Google Shape;166;p19"/>
          <p:cNvGraphicFramePr/>
          <p:nvPr/>
        </p:nvGraphicFramePr>
        <p:xfrm>
          <a:off x="7533901" y="3165170"/>
          <a:ext cx="151382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19,266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67" name="Google Shape;167;p19"/>
          <p:cNvSpPr/>
          <p:nvPr/>
        </p:nvSpPr>
        <p:spPr>
          <a:xfrm>
            <a:off x="3685082" y="135945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cxnSp>
        <p:nvCxnSpPr>
          <p:cNvPr id="168" name="Google Shape;168;p19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9" name="Google Shape;169;p19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170" name="Google Shape;170;p19"/>
          <p:cNvGraphicFramePr/>
          <p:nvPr/>
        </p:nvGraphicFramePr>
        <p:xfrm>
          <a:off x="3838507" y="1937045"/>
          <a:ext cx="12870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110 | 102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" name="Google Shape;171;p19"/>
          <p:cNvGraphicFramePr/>
          <p:nvPr/>
        </p:nvGraphicFramePr>
        <p:xfrm>
          <a:off x="3819957" y="2551107"/>
          <a:ext cx="13241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93 | 81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2" name="Google Shape;172;p19"/>
          <p:cNvGraphicFramePr/>
          <p:nvPr/>
        </p:nvGraphicFramePr>
        <p:xfrm>
          <a:off x="3819957" y="3165170"/>
          <a:ext cx="13241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96 | 82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3" name="Google Shape;173;p19"/>
          <p:cNvSpPr/>
          <p:nvPr/>
        </p:nvSpPr>
        <p:spPr>
          <a:xfrm>
            <a:off x="48519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174" name="Google Shape;174;p19"/>
          <p:cNvGraphicFramePr/>
          <p:nvPr/>
        </p:nvGraphicFramePr>
        <p:xfrm>
          <a:off x="5125579" y="1937045"/>
          <a:ext cx="10193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5" name="Google Shape;175;p19"/>
          <p:cNvGraphicFramePr/>
          <p:nvPr/>
        </p:nvGraphicFramePr>
        <p:xfrm>
          <a:off x="5107029" y="2551107"/>
          <a:ext cx="10564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5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6" name="Google Shape;176;p19"/>
          <p:cNvGraphicFramePr/>
          <p:nvPr/>
        </p:nvGraphicFramePr>
        <p:xfrm>
          <a:off x="5125579" y="3165170"/>
          <a:ext cx="10193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7" name="Google Shape;177;p19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78" name="Google Shape;178;p19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9" name="Google Shape;179;p19"/>
          <p:cNvSpPr/>
          <p:nvPr/>
        </p:nvSpPr>
        <p:spPr>
          <a:xfrm>
            <a:off x="24135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 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180" name="Google Shape;180;p19"/>
          <p:cNvGraphicFramePr/>
          <p:nvPr/>
        </p:nvGraphicFramePr>
        <p:xfrm>
          <a:off x="2687179" y="1937045"/>
          <a:ext cx="10193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7.5%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1" name="Google Shape;181;p19"/>
          <p:cNvGraphicFramePr/>
          <p:nvPr/>
        </p:nvGraphicFramePr>
        <p:xfrm>
          <a:off x="2668629" y="2551107"/>
          <a:ext cx="10564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5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7.5%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2" name="Google Shape;182;p19"/>
          <p:cNvGraphicFramePr/>
          <p:nvPr/>
        </p:nvGraphicFramePr>
        <p:xfrm>
          <a:off x="2687179" y="3165170"/>
          <a:ext cx="10193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7.5%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3" name="Google Shape;183;p19"/>
          <p:cNvGraphicFramePr/>
          <p:nvPr/>
        </p:nvGraphicFramePr>
        <p:xfrm>
          <a:off x="572501" y="3779232"/>
          <a:ext cx="2035750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Invesco India Small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4" name="Google Shape;184;p19"/>
          <p:cNvGraphicFramePr/>
          <p:nvPr/>
        </p:nvGraphicFramePr>
        <p:xfrm>
          <a:off x="6151050" y="3779232"/>
          <a:ext cx="1569900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31%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(+5%)</a:t>
                      </a:r>
                      <a:endParaRPr sz="7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5" name="Google Shape;185;p19"/>
          <p:cNvGraphicFramePr/>
          <p:nvPr/>
        </p:nvGraphicFramePr>
        <p:xfrm>
          <a:off x="7533901" y="3779232"/>
          <a:ext cx="151382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9,008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6" name="Google Shape;186;p19"/>
          <p:cNvGraphicFramePr/>
          <p:nvPr/>
        </p:nvGraphicFramePr>
        <p:xfrm>
          <a:off x="3819957" y="3779232"/>
          <a:ext cx="13241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89 | 77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7" name="Google Shape;187;p19"/>
          <p:cNvGraphicFramePr/>
          <p:nvPr/>
        </p:nvGraphicFramePr>
        <p:xfrm>
          <a:off x="5125579" y="3779232"/>
          <a:ext cx="10193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8" name="Google Shape;188;p19"/>
          <p:cNvGraphicFramePr/>
          <p:nvPr/>
        </p:nvGraphicFramePr>
        <p:xfrm>
          <a:off x="2687179" y="3779232"/>
          <a:ext cx="1019375" cy="4729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7.5%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9" name="Google Shape;189;p19"/>
          <p:cNvSpPr/>
          <p:nvPr/>
        </p:nvSpPr>
        <p:spPr>
          <a:xfrm>
            <a:off x="7480805" y="1348726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0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0"/>
          <p:cNvSpPr/>
          <p:nvPr/>
        </p:nvSpPr>
        <p:spPr>
          <a:xfrm>
            <a:off x="300976" y="1351184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Equity - Balanced | 40%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Flexi | Value &amp; Contra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96" name="Google Shape;196;p20"/>
          <p:cNvSpPr/>
          <p:nvPr/>
        </p:nvSpPr>
        <p:spPr>
          <a:xfrm>
            <a:off x="6079487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197" name="Google Shape;197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19275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98" name="Google Shape;198;p20"/>
          <p:cNvSpPr/>
          <p:nvPr/>
        </p:nvSpPr>
        <p:spPr>
          <a:xfrm>
            <a:off x="3685082" y="135945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199" name="Google Shape;199;p20"/>
          <p:cNvSpPr/>
          <p:nvPr/>
        </p:nvSpPr>
        <p:spPr>
          <a:xfrm>
            <a:off x="48519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200" name="Google Shape;200;p20"/>
          <p:cNvGraphicFramePr/>
          <p:nvPr/>
        </p:nvGraphicFramePr>
        <p:xfrm>
          <a:off x="3819957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114 | 73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1" name="Google Shape;201;p20"/>
          <p:cNvGraphicFramePr/>
          <p:nvPr/>
        </p:nvGraphicFramePr>
        <p:xfrm>
          <a:off x="3838507" y="193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75 | 49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02" name="Google Shape;202;p20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0"/>
          <p:cNvSpPr/>
          <p:nvPr/>
        </p:nvSpPr>
        <p:spPr>
          <a:xfrm>
            <a:off x="24135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204" name="Google Shape;204;p20"/>
          <p:cNvGraphicFramePr/>
          <p:nvPr/>
        </p:nvGraphicFramePr>
        <p:xfrm>
          <a:off x="2687179" y="193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5" name="Google Shape;205;p20"/>
          <p:cNvGraphicFramePr/>
          <p:nvPr/>
        </p:nvGraphicFramePr>
        <p:xfrm>
          <a:off x="2668629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5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6" name="Google Shape;206;p20"/>
          <p:cNvGraphicFramePr/>
          <p:nvPr/>
        </p:nvGraphicFramePr>
        <p:xfrm>
          <a:off x="572501" y="18946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Parag Parikh Flexi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7" name="Google Shape;207;p20"/>
          <p:cNvGraphicFramePr/>
          <p:nvPr/>
        </p:nvGraphicFramePr>
        <p:xfrm>
          <a:off x="572501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Flexi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8" name="Google Shape;208;p20"/>
          <p:cNvGraphicFramePr/>
          <p:nvPr/>
        </p:nvGraphicFramePr>
        <p:xfrm>
          <a:off x="4885338" y="19494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9" name="Google Shape;209;p20"/>
          <p:cNvGraphicFramePr/>
          <p:nvPr/>
        </p:nvGraphicFramePr>
        <p:xfrm>
          <a:off x="4885338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0" name="Google Shape;210;p20"/>
          <p:cNvGraphicFramePr/>
          <p:nvPr/>
        </p:nvGraphicFramePr>
        <p:xfrm>
          <a:off x="6180738" y="19376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23%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(+5%)</a:t>
                      </a:r>
                      <a:endParaRPr sz="2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1" name="Google Shape;211;p20"/>
          <p:cNvGraphicFramePr/>
          <p:nvPr/>
        </p:nvGraphicFramePr>
        <p:xfrm>
          <a:off x="6180738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21%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(+3%)</a:t>
                      </a:r>
                      <a:endParaRPr sz="7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2" name="Google Shape;212;p20"/>
          <p:cNvGraphicFramePr/>
          <p:nvPr/>
        </p:nvGraphicFramePr>
        <p:xfrm>
          <a:off x="7548225" y="19708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1,33,969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3" name="Google Shape;213;p20"/>
          <p:cNvGraphicFramePr/>
          <p:nvPr/>
        </p:nvGraphicFramePr>
        <p:xfrm>
          <a:off x="7548225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97,451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14" name="Google Shape;214;p20"/>
          <p:cNvSpPr/>
          <p:nvPr/>
        </p:nvSpPr>
        <p:spPr>
          <a:xfrm>
            <a:off x="7480805" y="1348726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215" name="Google Shape;215;p20"/>
          <p:cNvGraphicFramePr/>
          <p:nvPr/>
        </p:nvGraphicFramePr>
        <p:xfrm>
          <a:off x="3819957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98 | 65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6" name="Google Shape;216;p20"/>
          <p:cNvGraphicFramePr/>
          <p:nvPr/>
        </p:nvGraphicFramePr>
        <p:xfrm>
          <a:off x="2687179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7" name="Google Shape;217;p20"/>
          <p:cNvGraphicFramePr/>
          <p:nvPr/>
        </p:nvGraphicFramePr>
        <p:xfrm>
          <a:off x="572488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ICICI Prudential Value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8" name="Google Shape;218;p20"/>
          <p:cNvGraphicFramePr/>
          <p:nvPr/>
        </p:nvGraphicFramePr>
        <p:xfrm>
          <a:off x="4885325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9" name="Google Shape;219;p20"/>
          <p:cNvGraphicFramePr/>
          <p:nvPr/>
        </p:nvGraphicFramePr>
        <p:xfrm>
          <a:off x="6180725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23%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(+3%)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0" name="Google Shape;220;p20"/>
          <p:cNvGraphicFramePr/>
          <p:nvPr/>
        </p:nvGraphicFramePr>
        <p:xfrm>
          <a:off x="7548212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61,272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1" name="Google Shape;221;p20"/>
          <p:cNvGraphicFramePr/>
          <p:nvPr/>
        </p:nvGraphicFramePr>
        <p:xfrm>
          <a:off x="3819957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118 | 76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2" name="Google Shape;222;p20"/>
          <p:cNvGraphicFramePr/>
          <p:nvPr/>
        </p:nvGraphicFramePr>
        <p:xfrm>
          <a:off x="2687179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3" name="Google Shape;223;p20"/>
          <p:cNvGraphicFramePr/>
          <p:nvPr/>
        </p:nvGraphicFramePr>
        <p:xfrm>
          <a:off x="572501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SBI Contra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4" name="Google Shape;224;p20"/>
          <p:cNvGraphicFramePr/>
          <p:nvPr/>
        </p:nvGraphicFramePr>
        <p:xfrm>
          <a:off x="4885338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5" name="Google Shape;225;p20"/>
          <p:cNvGraphicFramePr/>
          <p:nvPr/>
        </p:nvGraphicFramePr>
        <p:xfrm>
          <a:off x="6180738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26%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(+6%)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6" name="Google Shape;226;p20"/>
          <p:cNvGraphicFramePr/>
          <p:nvPr/>
        </p:nvGraphicFramePr>
        <p:xfrm>
          <a:off x="7548225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49,967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27" name="Google Shape;227;p20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228" name="Google Shape;228;p20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29" name="Google Shape;229;p20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0" name="Google Shape;230;p20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1" name="Google Shape;231;p20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32" name="Google Shape;232;p20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1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1"/>
          <p:cNvSpPr/>
          <p:nvPr/>
        </p:nvSpPr>
        <p:spPr>
          <a:xfrm>
            <a:off x="300976" y="1351184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Equity - Conservative | 10%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Large Cap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39" name="Google Shape;239;p21"/>
          <p:cNvSpPr/>
          <p:nvPr/>
        </p:nvSpPr>
        <p:spPr>
          <a:xfrm>
            <a:off x="6079487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40" name="Google Shape;240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19275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41" name="Google Shape;241;p21"/>
          <p:cNvSpPr/>
          <p:nvPr/>
        </p:nvSpPr>
        <p:spPr>
          <a:xfrm>
            <a:off x="3685082" y="135945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42" name="Google Shape;242;p21"/>
          <p:cNvSpPr/>
          <p:nvPr/>
        </p:nvSpPr>
        <p:spPr>
          <a:xfrm>
            <a:off x="48519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243" name="Google Shape;243;p21"/>
          <p:cNvGraphicFramePr/>
          <p:nvPr/>
        </p:nvGraphicFramePr>
        <p:xfrm>
          <a:off x="3838507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115 | 84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44" name="Google Shape;244;p21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1"/>
          <p:cNvSpPr/>
          <p:nvPr/>
        </p:nvSpPr>
        <p:spPr>
          <a:xfrm>
            <a:off x="24135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246" name="Google Shape;246;p21"/>
          <p:cNvGraphicFramePr/>
          <p:nvPr/>
        </p:nvGraphicFramePr>
        <p:xfrm>
          <a:off x="2687179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7" name="Google Shape;247;p21"/>
          <p:cNvGraphicFramePr/>
          <p:nvPr/>
        </p:nvGraphicFramePr>
        <p:xfrm>
          <a:off x="572501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Nippon India Large Cap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8" name="Google Shape;248;p21"/>
          <p:cNvGraphicFramePr/>
          <p:nvPr/>
        </p:nvGraphicFramePr>
        <p:xfrm>
          <a:off x="4885338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9" name="Google Shape;249;p21"/>
          <p:cNvGraphicFramePr/>
          <p:nvPr/>
        </p:nvGraphicFramePr>
        <p:xfrm>
          <a:off x="6180738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(+3%)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50" name="Google Shape;250;p21"/>
          <p:cNvGraphicFramePr/>
          <p:nvPr/>
        </p:nvGraphicFramePr>
        <p:xfrm>
          <a:off x="7548225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50,876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1" name="Google Shape;251;p21"/>
          <p:cNvSpPr/>
          <p:nvPr/>
        </p:nvSpPr>
        <p:spPr>
          <a:xfrm>
            <a:off x="7480805" y="1348726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52" name="Google Shape;252;p21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253" name="Google Shape;253;p21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4" name="Google Shape;254;p21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5" name="Google Shape;255;p21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6" name="Google Shape;256;p21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57" name="Google Shape;257;p21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2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2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22"/>
          <p:cNvSpPr/>
          <p:nvPr/>
        </p:nvSpPr>
        <p:spPr>
          <a:xfrm>
            <a:off x="300976" y="1376847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Hybrid | 20%</a:t>
            </a:r>
            <a:b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r>
              <a:rPr lang="en-GB" sz="750">
                <a:solidFill>
                  <a:srgbClr val="6A6E6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Dynamic Asset | Multi Asset</a:t>
            </a:r>
            <a:endParaRPr sz="750">
              <a:solidFill>
                <a:srgbClr val="6A6E6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65" name="Google Shape;265;p22"/>
          <p:cNvSpPr/>
          <p:nvPr/>
        </p:nvSpPr>
        <p:spPr>
          <a:xfrm>
            <a:off x="6079487" y="137684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266" name="Google Shape;266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53188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267" name="Google Shape;267;p22"/>
          <p:cNvSpPr/>
          <p:nvPr/>
        </p:nvSpPr>
        <p:spPr>
          <a:xfrm>
            <a:off x="3685082" y="137684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68" name="Google Shape;268;p22"/>
          <p:cNvSpPr/>
          <p:nvPr/>
        </p:nvSpPr>
        <p:spPr>
          <a:xfrm>
            <a:off x="4851903" y="137684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269" name="Google Shape;269;p22"/>
          <p:cNvGraphicFramePr/>
          <p:nvPr/>
        </p:nvGraphicFramePr>
        <p:xfrm>
          <a:off x="3838507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136 | 55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70" name="Google Shape;270;p22"/>
          <p:cNvSpPr/>
          <p:nvPr/>
        </p:nvSpPr>
        <p:spPr>
          <a:xfrm>
            <a:off x="2413503" y="137684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271" name="Google Shape;271;p22"/>
          <p:cNvGraphicFramePr/>
          <p:nvPr/>
        </p:nvGraphicFramePr>
        <p:xfrm>
          <a:off x="2687179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2" name="Google Shape;272;p22"/>
          <p:cNvGraphicFramePr/>
          <p:nvPr/>
        </p:nvGraphicFramePr>
        <p:xfrm>
          <a:off x="572501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Balanced Advantage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3" name="Google Shape;273;p22"/>
          <p:cNvGraphicFramePr/>
          <p:nvPr/>
        </p:nvGraphicFramePr>
        <p:xfrm>
          <a:off x="48853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4" name="Google Shape;274;p22"/>
          <p:cNvGraphicFramePr/>
          <p:nvPr/>
        </p:nvGraphicFramePr>
        <p:xfrm>
          <a:off x="61807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(+7%)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5" name="Google Shape;275;p22"/>
          <p:cNvGraphicFramePr/>
          <p:nvPr/>
        </p:nvGraphicFramePr>
        <p:xfrm>
          <a:off x="7548225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1,07,971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6" name="Google Shape;276;p22"/>
          <p:cNvGraphicFramePr/>
          <p:nvPr/>
        </p:nvGraphicFramePr>
        <p:xfrm>
          <a:off x="3838507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113 | 42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7" name="Google Shape;277;p22"/>
          <p:cNvGraphicFramePr/>
          <p:nvPr/>
        </p:nvGraphicFramePr>
        <p:xfrm>
          <a:off x="2687179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8" name="Google Shape;278;p22"/>
          <p:cNvGraphicFramePr/>
          <p:nvPr/>
        </p:nvGraphicFramePr>
        <p:xfrm>
          <a:off x="572501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Quant Multi Asset Allocation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79" name="Google Shape;279;p22"/>
          <p:cNvGraphicFramePr/>
          <p:nvPr/>
        </p:nvGraphicFramePr>
        <p:xfrm>
          <a:off x="48853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0" name="Google Shape;280;p22"/>
          <p:cNvGraphicFramePr/>
          <p:nvPr/>
        </p:nvGraphicFramePr>
        <p:xfrm>
          <a:off x="61807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27%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(+10%)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81" name="Google Shape;281;p22"/>
          <p:cNvGraphicFramePr/>
          <p:nvPr/>
        </p:nvGraphicFramePr>
        <p:xfrm>
          <a:off x="7548225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4,434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2" name="Google Shape;282;p22"/>
          <p:cNvSpPr/>
          <p:nvPr/>
        </p:nvSpPr>
        <p:spPr>
          <a:xfrm>
            <a:off x="7480805" y="1386826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283" name="Google Shape;283;p22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284" name="Google Shape;284;p22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5" name="Google Shape;285;p22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6" name="Google Shape;286;p22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7" name="Google Shape;287;p22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88" name="Google Shape;288;p22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5" name="Google Shape;295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53188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296" name="Google Shape;296;p23"/>
          <p:cNvGraphicFramePr/>
          <p:nvPr/>
        </p:nvGraphicFramePr>
        <p:xfrm>
          <a:off x="3838507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136 | 55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7" name="Google Shape;297;p23"/>
          <p:cNvGraphicFramePr/>
          <p:nvPr/>
        </p:nvGraphicFramePr>
        <p:xfrm>
          <a:off x="2687179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8" name="Google Shape;298;p23"/>
          <p:cNvGraphicFramePr/>
          <p:nvPr/>
        </p:nvGraphicFramePr>
        <p:xfrm>
          <a:off x="572501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Balanced Advantage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99" name="Google Shape;299;p23"/>
          <p:cNvGraphicFramePr/>
          <p:nvPr/>
        </p:nvGraphicFramePr>
        <p:xfrm>
          <a:off x="48853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0" name="Google Shape;300;p23"/>
          <p:cNvGraphicFramePr/>
          <p:nvPr/>
        </p:nvGraphicFramePr>
        <p:xfrm>
          <a:off x="61807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(+7%)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1" name="Google Shape;301;p23"/>
          <p:cNvGraphicFramePr/>
          <p:nvPr/>
        </p:nvGraphicFramePr>
        <p:xfrm>
          <a:off x="7548225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1,07,971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2" name="Google Shape;302;p23"/>
          <p:cNvGraphicFramePr/>
          <p:nvPr/>
        </p:nvGraphicFramePr>
        <p:xfrm>
          <a:off x="3838507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113 | 42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3" name="Google Shape;303;p23"/>
          <p:cNvGraphicFramePr/>
          <p:nvPr/>
        </p:nvGraphicFramePr>
        <p:xfrm>
          <a:off x="2687179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4" name="Google Shape;304;p23"/>
          <p:cNvGraphicFramePr/>
          <p:nvPr/>
        </p:nvGraphicFramePr>
        <p:xfrm>
          <a:off x="572501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Quant Multi Asset Allocation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5" name="Google Shape;305;p23"/>
          <p:cNvGraphicFramePr/>
          <p:nvPr/>
        </p:nvGraphicFramePr>
        <p:xfrm>
          <a:off x="48853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6" name="Google Shape;306;p23"/>
          <p:cNvGraphicFramePr/>
          <p:nvPr/>
        </p:nvGraphicFramePr>
        <p:xfrm>
          <a:off x="61807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27%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(+10%)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307" name="Google Shape;307;p23"/>
          <p:cNvGraphicFramePr/>
          <p:nvPr/>
        </p:nvGraphicFramePr>
        <p:xfrm>
          <a:off x="7548225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4,434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308" name="Google Shape;308;p23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09" name="Google Shape;309;p23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0" name="Google Shape;310;p23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1" name="Google Shape;311;p23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12" name="Google Shape;312;p23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13" name="Google Shape;313;p23"/>
          <p:cNvSpPr/>
          <p:nvPr/>
        </p:nvSpPr>
        <p:spPr>
          <a:xfrm>
            <a:off x="300976" y="1383432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Gold | 5.1%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Gold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14" name="Google Shape;314;p23"/>
          <p:cNvSpPr/>
          <p:nvPr/>
        </p:nvSpPr>
        <p:spPr>
          <a:xfrm>
            <a:off x="6079487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15" name="Google Shape;315;p23"/>
          <p:cNvSpPr/>
          <p:nvPr/>
        </p:nvSpPr>
        <p:spPr>
          <a:xfrm>
            <a:off x="3685082" y="139170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16" name="Google Shape;316;p23"/>
          <p:cNvSpPr/>
          <p:nvPr/>
        </p:nvSpPr>
        <p:spPr>
          <a:xfrm>
            <a:off x="4851903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2413503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 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7480805" y="139049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4"/>
          <p:cNvSpPr/>
          <p:nvPr/>
        </p:nvSpPr>
        <p:spPr>
          <a:xfrm>
            <a:off x="476250" y="1209675"/>
            <a:ext cx="8191500" cy="337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24"/>
          <p:cNvSpPr/>
          <p:nvPr/>
        </p:nvSpPr>
        <p:spPr>
          <a:xfrm>
            <a:off x="3257550" y="1209675"/>
            <a:ext cx="26289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4"/>
          <p:cNvSpPr/>
          <p:nvPr/>
        </p:nvSpPr>
        <p:spPr>
          <a:xfrm>
            <a:off x="3448050" y="2708650"/>
            <a:ext cx="2217600" cy="7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Over-allocated in certain categories: Large (4), Mid (4), Flexi (6), Sectoral (5), Under-allocated in Small (1), Value &amp; Contra (1), Focused Fund (1) vs 2 recommended in each</a:t>
            </a: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476250" y="1209675"/>
            <a:ext cx="26289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4"/>
          <p:cNvSpPr/>
          <p:nvPr/>
        </p:nvSpPr>
        <p:spPr>
          <a:xfrm>
            <a:off x="6038850" y="1209675"/>
            <a:ext cx="26289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24"/>
          <p:cNvSpPr/>
          <p:nvPr/>
        </p:nvSpPr>
        <p:spPr>
          <a:xfrm>
            <a:off x="6229350" y="1409700"/>
            <a:ext cx="509700" cy="509700"/>
          </a:xfrm>
          <a:prstGeom prst="ellipse">
            <a:avLst/>
          </a:prstGeom>
          <a:solidFill>
            <a:srgbClr val="FFE0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24"/>
          <p:cNvSpPr/>
          <p:nvPr/>
        </p:nvSpPr>
        <p:spPr>
          <a:xfrm>
            <a:off x="3448050" y="1409700"/>
            <a:ext cx="509700" cy="509700"/>
          </a:xfrm>
          <a:prstGeom prst="ellipse">
            <a:avLst/>
          </a:prstGeom>
          <a:solidFill>
            <a:srgbClr val="FFE0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24"/>
          <p:cNvSpPr/>
          <p:nvPr/>
        </p:nvSpPr>
        <p:spPr>
          <a:xfrm>
            <a:off x="666750" y="1409700"/>
            <a:ext cx="509700" cy="509700"/>
          </a:xfrm>
          <a:prstGeom prst="ellipse">
            <a:avLst/>
          </a:prstGeom>
          <a:solidFill>
            <a:srgbClr val="FFE0D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476250" y="476250"/>
            <a:ext cx="76392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~3cr corpus -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What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could be better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476250" y="814388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Gaps we can help you fix</a:t>
            </a:r>
            <a:endParaRPr sz="1125">
              <a:solidFill>
                <a:srgbClr val="6A6E6E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6229350" y="2038350"/>
            <a:ext cx="27051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Fund Quality &amp; </a:t>
            </a:r>
            <a:endParaRPr sz="1800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Higher Costs</a:t>
            </a:r>
            <a:endParaRPr sz="1800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6" name="Google Shape;336;p24"/>
          <p:cNvSpPr/>
          <p:nvPr/>
        </p:nvSpPr>
        <p:spPr>
          <a:xfrm>
            <a:off x="6229350" y="2708650"/>
            <a:ext cx="23955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30% PF (5/29 schemes) in off-track/out-of-form funds resulting in </a:t>
            </a:r>
            <a:r>
              <a:rPr lang="en-GB" sz="1050" b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49.5L</a:t>
            </a: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 of missed gains, 33% exposure to regular funds resulting in commissions of 60K, and you’ll end up paying 31.4L in next 10 years</a:t>
            </a: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37" name="Google Shape;337;p24"/>
          <p:cNvSpPr/>
          <p:nvPr/>
        </p:nvSpPr>
        <p:spPr>
          <a:xfrm>
            <a:off x="6129338" y="1543050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92617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992617"/>
                </a:solidFill>
                <a:latin typeface="IBM Plex Sans"/>
                <a:ea typeface="IBM Plex Sans"/>
                <a:cs typeface="IBM Plex Sans"/>
                <a:sym typeface="IBM Plex Sans"/>
              </a:rPr>
              <a:t>03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4"/>
          <p:cNvSpPr/>
          <p:nvPr/>
        </p:nvSpPr>
        <p:spPr>
          <a:xfrm>
            <a:off x="3448050" y="2038350"/>
            <a:ext cx="25719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Sub-Optimal </a:t>
            </a:r>
            <a:endParaRPr sz="1800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Allocation</a:t>
            </a:r>
            <a:endParaRPr sz="1800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3348038" y="1543050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92617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992617"/>
                </a:solidFill>
                <a:latin typeface="IBM Plex Sans"/>
                <a:ea typeface="IBM Plex Sans"/>
                <a:cs typeface="IBM Plex Sans"/>
                <a:sym typeface="IBM Plex Sans"/>
              </a:rPr>
              <a:t>02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24"/>
          <p:cNvSpPr/>
          <p:nvPr/>
        </p:nvSpPr>
        <p:spPr>
          <a:xfrm>
            <a:off x="666750" y="2038350"/>
            <a:ext cx="27051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18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Over-Diversified Portfolio</a:t>
            </a:r>
            <a:endParaRPr sz="1800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666750" y="2708650"/>
            <a:ext cx="2350500" cy="6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 Light"/>
                <a:ea typeface="IBM Plex Sans Light"/>
                <a:cs typeface="IBM Plex Sans Light"/>
                <a:sym typeface="IBM Plex Sans Light"/>
              </a:rPr>
              <a:t>Invested across 15 sub-categories* (vs. 8-10 recommended) and 29 schemes (vs. 12-15 recommended), spread over 13 AMCs. Fragmented capital as 14/29 schemes hold &lt;3% each</a:t>
            </a:r>
            <a:endParaRPr sz="1050">
              <a:solidFill>
                <a:srgbClr val="232323"/>
              </a:solidFill>
              <a:latin typeface="IBM Plex Sans Light"/>
              <a:ea typeface="IBM Plex Sans Light"/>
              <a:cs typeface="IBM Plex Sans Light"/>
              <a:sym typeface="IBM Plex Sans Light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566738" y="1543050"/>
            <a:ext cx="7143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992617"/>
              </a:buClr>
              <a:buSzPts val="1620"/>
              <a:buFont typeface="IBM Plex Sans"/>
              <a:buNone/>
            </a:pPr>
            <a:r>
              <a:rPr lang="en-GB" sz="1620" b="0" i="0" u="none" strike="noStrike" cap="none">
                <a:solidFill>
                  <a:srgbClr val="992617"/>
                </a:solidFill>
                <a:latin typeface="IBM Plex Sans"/>
                <a:ea typeface="IBM Plex Sans"/>
                <a:cs typeface="IBM Plex Sans"/>
                <a:sym typeface="IBM Plex Sans"/>
              </a:rPr>
              <a:t>01</a:t>
            </a:r>
            <a:endParaRPr sz="162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476250" y="4889321"/>
            <a:ext cx="7782000" cy="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9925"/>
              </a:lnSpc>
              <a:spcBef>
                <a:spcPts val="0"/>
              </a:spcBef>
              <a:spcAft>
                <a:spcPts val="0"/>
              </a:spcAft>
              <a:buClr>
                <a:srgbClr val="8E9393"/>
              </a:buClr>
              <a:buSzPts val="675"/>
              <a:buFont typeface="IBM Plex Sans"/>
              <a:buNone/>
            </a:pPr>
            <a:r>
              <a:rPr lang="en-GB" sz="675">
                <a:solidFill>
                  <a:srgbClr val="8E9393"/>
                </a:solidFill>
                <a:latin typeface="IBM Plex Sans"/>
                <a:ea typeface="IBM Plex Sans"/>
                <a:cs typeface="IBM Plex Sans"/>
                <a:sym typeface="IBM Plex Sans"/>
              </a:rPr>
              <a:t>*Sub-categories are just the different scheme types you’ve invested in for example Flexi Cap, Large Cap, ELSS, Aggressive Hybrid, Sector (Technology), and Global (USA)</a:t>
            </a:r>
            <a:endParaRPr sz="675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24"/>
          <p:cNvSpPr/>
          <p:nvPr/>
        </p:nvSpPr>
        <p:spPr>
          <a:xfrm>
            <a:off x="457519" y="4632806"/>
            <a:ext cx="8135700" cy="2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232323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#Current distribution of funds across categories is misaligned with your risk tolerance and investment horizon</a:t>
            </a:r>
            <a:endParaRPr sz="1050">
              <a:solidFill>
                <a:srgbClr val="232323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/>
          <p:nvPr/>
        </p:nvSpPr>
        <p:spPr>
          <a:xfrm>
            <a:off x="519050" y="322050"/>
            <a:ext cx="8697000" cy="5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111111"/>
              </a:buClr>
              <a:buSzPts val="1800"/>
              <a:buFont typeface="IBM Plex Sans"/>
              <a:buNone/>
            </a:pPr>
            <a:r>
              <a:rPr lang="en-GB" sz="2100">
                <a:solidFill>
                  <a:srgbClr val="111111"/>
                </a:solidFill>
                <a:latin typeface="IBM Plex Sans"/>
                <a:ea typeface="IBM Plex Sans"/>
                <a:cs typeface="IBM Plex Sans"/>
                <a:sym typeface="IBM Plex Sans"/>
              </a:rPr>
              <a:t>The transition plan for the 1.5Cr corpus</a:t>
            </a:r>
            <a:endParaRPr sz="1000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552450" y="754447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Moves your portfolio to its ideal allocation in 5 months*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5"/>
          <p:cNvSpPr/>
          <p:nvPr/>
        </p:nvSpPr>
        <p:spPr>
          <a:xfrm>
            <a:off x="2112175" y="47812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IBM Plex Sans"/>
              <a:buNone/>
            </a:pPr>
            <a:r>
              <a:rPr lang="en-GB" sz="700">
                <a:solidFill>
                  <a:srgbClr val="99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List of funds from existing portfolio to be sold (as per transition plan) </a:t>
            </a:r>
            <a:r>
              <a:rPr lang="en-GB" sz="7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3" action="ppaction://hlinksldjump"/>
              </a:rPr>
              <a:t>here</a:t>
            </a:r>
            <a:endParaRPr sz="700">
              <a:solidFill>
                <a:srgbClr val="99999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3" name="Google Shape;353;p25"/>
          <p:cNvSpPr/>
          <p:nvPr/>
        </p:nvSpPr>
        <p:spPr>
          <a:xfrm>
            <a:off x="5529836" y="4781200"/>
            <a:ext cx="40293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IBM Plex Sans"/>
              <a:buNone/>
            </a:pPr>
            <a:r>
              <a:rPr lang="en-GB" sz="700">
                <a:solidFill>
                  <a:srgbClr val="99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List of funds from existing portfolio to be retained  (as per transition plan) </a:t>
            </a:r>
            <a:r>
              <a:rPr lang="en-GB" sz="7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4" action="ppaction://hlinksldjump"/>
              </a:rPr>
              <a:t>here</a:t>
            </a:r>
            <a:endParaRPr sz="700">
              <a:solidFill>
                <a:srgbClr val="99999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4" name="Google Shape;354;p25"/>
          <p:cNvSpPr/>
          <p:nvPr/>
        </p:nvSpPr>
        <p:spPr>
          <a:xfrm>
            <a:off x="309239" y="4781200"/>
            <a:ext cx="360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IBM Plex Sans"/>
              <a:buNone/>
            </a:pPr>
            <a:r>
              <a:rPr lang="en-GB" sz="700">
                <a:solidFill>
                  <a:srgbClr val="999999"/>
                </a:solidFill>
                <a:latin typeface="IBM Plex Sans"/>
                <a:ea typeface="IBM Plex Sans"/>
                <a:cs typeface="IBM Plex Sans"/>
                <a:sym typeface="IBM Plex Sans"/>
              </a:rPr>
              <a:t>List of funds for ideal portfolio </a:t>
            </a:r>
            <a:r>
              <a:rPr lang="en-GB" sz="700" u="sng">
                <a:solidFill>
                  <a:schemeClr val="hlink"/>
                </a:solidFill>
                <a:latin typeface="IBM Plex Sans"/>
                <a:ea typeface="IBM Plex Sans"/>
                <a:cs typeface="IBM Plex Sans"/>
                <a:sym typeface="IBM Plex Sans"/>
                <a:hlinkClick r:id="rId5" action="ppaction://hlinksldjump"/>
              </a:rPr>
              <a:t>here</a:t>
            </a:r>
            <a:endParaRPr sz="700">
              <a:solidFill>
                <a:srgbClr val="999999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355" name="Google Shape;355;p25"/>
          <p:cNvSpPr/>
          <p:nvPr/>
        </p:nvSpPr>
        <p:spPr>
          <a:xfrm>
            <a:off x="590274" y="3709426"/>
            <a:ext cx="3129000" cy="51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12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Tax Liability: INR 9.32L</a:t>
            </a:r>
            <a:endParaRPr sz="12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800"/>
              <a:buFont typeface="IBM Plex Sans"/>
              <a:buNone/>
            </a:pPr>
            <a:r>
              <a:rPr lang="en-GB" sz="800">
                <a:solidFill>
                  <a:schemeClr val="dk1"/>
                </a:solidFill>
                <a:latin typeface="IBM Plex Sans"/>
                <a:ea typeface="IBM Plex Sans"/>
                <a:cs typeface="IBM Plex Sans"/>
                <a:sym typeface="IBM Plex Sans"/>
              </a:rPr>
              <a:t>LTCG 9.06L + STCG 25.5K</a:t>
            </a:r>
            <a:endParaRPr sz="800">
              <a:solidFill>
                <a:schemeClr val="dk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356" name="Google Shape;356;p25"/>
          <p:cNvGraphicFramePr/>
          <p:nvPr/>
        </p:nvGraphicFramePr>
        <p:xfrm>
          <a:off x="701831" y="1185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3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55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55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55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551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55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551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3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9393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 u="none" strike="noStrike" cap="none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Portfolio Allocation</a:t>
                      </a:r>
                      <a:endParaRPr u="none" strike="noStrike" cap="none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9393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Current</a:t>
                      </a:r>
                      <a:endParaRPr sz="9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9393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Ideal - D0</a:t>
                      </a:r>
                      <a:endParaRPr sz="9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9393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Ideal - D30</a:t>
                      </a:r>
                      <a:endParaRPr sz="950" u="none" strike="noStrike" cap="none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939393"/>
                        </a:buClr>
                        <a:buSzPts val="750"/>
                        <a:buFont typeface="IBM Plex Sans"/>
                        <a:buNone/>
                      </a:pPr>
                      <a:r>
                        <a:rPr lang="en-GB" sz="9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Ideal - D60</a:t>
                      </a:r>
                      <a:endParaRPr sz="950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Ideal - D90</a:t>
                      </a:r>
                      <a:endParaRPr sz="950" b="1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Ideal - D120</a:t>
                      </a:r>
                      <a:endParaRPr sz="950" b="1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50" b="1">
                          <a:solidFill>
                            <a:schemeClr val="dk2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Ideal - D150</a:t>
                      </a:r>
                      <a:endParaRPr sz="950" b="1">
                        <a:solidFill>
                          <a:schemeClr val="dk2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Equity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1.5Cr | 98%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1.5Cr | 96%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1.5Cr | 93%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1.4Cr | 90%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1.4Cr | 87%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1.3Cr | 83%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1.3Cr | 80%</a:t>
                      </a:r>
                      <a:endParaRPr sz="85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Aggressive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62.8L | 40%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61.1L | 39%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58.3L | 37%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55.6L | 35%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52.9L | 33%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50.1L | 32%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47.4L | 30%</a:t>
                      </a:r>
                      <a:endParaRPr sz="85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Balanced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48.1L | 30%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51.8L | 33%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54.1L | 34%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56.3L | 36%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58.6L | 37%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60.9L | 39%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63.2L | 40%</a:t>
                      </a:r>
                      <a:endParaRPr sz="85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</a:t>
                      </a:r>
                      <a:r>
                        <a:rPr lang="en-GB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Conservative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43.7L | 28%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39.3L | 25%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34.6L | 22%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29.9L | 19%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25.2L | 16%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20.5L | 13%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solidFill>
                            <a:schemeClr val="dk1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        </a:t>
                      </a: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 | 10%</a:t>
                      </a:r>
                      <a:endParaRPr sz="850" b="1">
                        <a:solidFill>
                          <a:schemeClr val="dk1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Hybrid</a:t>
                      </a:r>
                      <a:endParaRPr sz="8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3.4L | 2%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5.8L | 4%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11.0L | 7%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16.1L | 10%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21.3L | 13%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26.4L | 17%</a:t>
                      </a:r>
                      <a:endParaRPr sz="85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31.6L | 20%</a:t>
                      </a:r>
                      <a:endParaRPr sz="85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73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0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Total</a:t>
                      </a:r>
                      <a:endParaRPr sz="80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D9D9D9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1.6Cr | 100%</a:t>
                      </a:r>
                      <a:endParaRPr sz="85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1.6Cr | 100%</a:t>
                      </a:r>
                      <a:endParaRPr sz="85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1.6Cr | 100%</a:t>
                      </a:r>
                      <a:endParaRPr sz="85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1.6Cr | 100%</a:t>
                      </a:r>
                      <a:endParaRPr sz="85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1.6Cr | 100%</a:t>
                      </a:r>
                      <a:endParaRPr sz="85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1.6Cr | 100%</a:t>
                      </a:r>
                      <a:endParaRPr sz="85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850" b="1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1.6Cr | 100%</a:t>
                      </a:r>
                      <a:endParaRPr sz="850" b="1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ctr">
                    <a:lnL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CCCCC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57" name="Google Shape;357;p25"/>
          <p:cNvSpPr txBox="1"/>
          <p:nvPr/>
        </p:nvSpPr>
        <p:spPr>
          <a:xfrm>
            <a:off x="768600" y="42012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DM Sans"/>
                <a:ea typeface="DM Sans"/>
                <a:cs typeface="DM Sans"/>
                <a:sym typeface="DM Sans"/>
              </a:rPr>
              <a:t>D0: Sell 29.1L of existing MFs &amp; Invest 29.1L as per allocation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8" name="Google Shape;358;p25"/>
          <p:cNvSpPr txBox="1"/>
          <p:nvPr/>
        </p:nvSpPr>
        <p:spPr>
          <a:xfrm>
            <a:off x="3324056" y="4201200"/>
            <a:ext cx="2160000" cy="54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">
                <a:latin typeface="DM Sans"/>
                <a:ea typeface="DM Sans"/>
                <a:cs typeface="DM Sans"/>
                <a:sym typeface="DM Sans"/>
              </a:rPr>
              <a:t>D30 to D150: Sell 25.7L every month &amp; invest 25.7L as per allocation</a:t>
            </a:r>
            <a:endParaRPr sz="800"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359" name="Google Shape;359;p25"/>
          <p:cNvSpPr/>
          <p:nvPr/>
        </p:nvSpPr>
        <p:spPr>
          <a:xfrm>
            <a:off x="630471" y="4426200"/>
            <a:ext cx="72000" cy="72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25"/>
          <p:cNvSpPr/>
          <p:nvPr/>
        </p:nvSpPr>
        <p:spPr>
          <a:xfrm>
            <a:off x="3145071" y="4426200"/>
            <a:ext cx="72000" cy="72000"/>
          </a:xfrm>
          <a:prstGeom prst="ellipse">
            <a:avLst/>
          </a:prstGeom>
          <a:solidFill>
            <a:srgbClr val="000000"/>
          </a:solidFill>
          <a:ln w="9525" cap="flat" cmpd="sng">
            <a:solidFill>
              <a:srgbClr val="44546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26"/>
          <p:cNvSpPr/>
          <p:nvPr/>
        </p:nvSpPr>
        <p:spPr>
          <a:xfrm>
            <a:off x="476250" y="1271588"/>
            <a:ext cx="2371725" cy="2324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26"/>
          <p:cNvSpPr/>
          <p:nvPr/>
        </p:nvSpPr>
        <p:spPr>
          <a:xfrm>
            <a:off x="476250" y="1271588"/>
            <a:ext cx="2371725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26"/>
          <p:cNvSpPr/>
          <p:nvPr/>
        </p:nvSpPr>
        <p:spPr>
          <a:xfrm>
            <a:off x="476250" y="2071688"/>
            <a:ext cx="19812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26"/>
          <p:cNvSpPr/>
          <p:nvPr/>
        </p:nvSpPr>
        <p:spPr>
          <a:xfrm>
            <a:off x="476250" y="2871788"/>
            <a:ext cx="1533600" cy="72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26"/>
          <p:cNvSpPr/>
          <p:nvPr/>
        </p:nvSpPr>
        <p:spPr>
          <a:xfrm>
            <a:off x="476250" y="3062288"/>
            <a:ext cx="342900" cy="342900"/>
          </a:xfrm>
          <a:prstGeom prst="ellipse">
            <a:avLst/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6"/>
          <p:cNvSpPr/>
          <p:nvPr/>
        </p:nvSpPr>
        <p:spPr>
          <a:xfrm>
            <a:off x="476250" y="2262188"/>
            <a:ext cx="342900" cy="342900"/>
          </a:xfrm>
          <a:prstGeom prst="ellipse">
            <a:avLst/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26"/>
          <p:cNvSpPr/>
          <p:nvPr/>
        </p:nvSpPr>
        <p:spPr>
          <a:xfrm>
            <a:off x="476250" y="1462088"/>
            <a:ext cx="342900" cy="342900"/>
          </a:xfrm>
          <a:prstGeom prst="ellipse">
            <a:avLst/>
          </a:prstGeom>
          <a:solidFill>
            <a:srgbClr val="E4FCE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73" name="Google Shape;373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033588"/>
            <a:ext cx="2371725" cy="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2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6250" y="2833688"/>
            <a:ext cx="2371725" cy="4763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3186113"/>
            <a:ext cx="1333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2386013"/>
            <a:ext cx="133350" cy="11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2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0550" y="1585913"/>
            <a:ext cx="13335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26"/>
          <p:cNvSpPr/>
          <p:nvPr/>
        </p:nvSpPr>
        <p:spPr>
          <a:xfrm>
            <a:off x="476250" y="476250"/>
            <a:ext cx="7639050" cy="319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Ready to begin your Infinite journey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26"/>
          <p:cNvSpPr/>
          <p:nvPr/>
        </p:nvSpPr>
        <p:spPr>
          <a:xfrm>
            <a:off x="4429125" y="4695825"/>
            <a:ext cx="742950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IBM Plex Sans"/>
              <a:buNone/>
            </a:pPr>
            <a:r>
              <a:rPr lang="en-GB" sz="1350" b="0" i="0" u="none" strike="noStrike" cap="none">
                <a:solidFill>
                  <a:srgbClr val="FFFFFF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6"/>
          <p:cNvSpPr/>
          <p:nvPr/>
        </p:nvSpPr>
        <p:spPr>
          <a:xfrm>
            <a:off x="914400" y="3181350"/>
            <a:ext cx="15525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Begin execution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6"/>
          <p:cNvSpPr/>
          <p:nvPr/>
        </p:nvSpPr>
        <p:spPr>
          <a:xfrm>
            <a:off x="914400" y="2381250"/>
            <a:ext cx="2700000" cy="10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Approve your transition plan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6"/>
          <p:cNvSpPr/>
          <p:nvPr/>
        </p:nvSpPr>
        <p:spPr>
          <a:xfrm>
            <a:off x="914400" y="1581150"/>
            <a:ext cx="2390775" cy="104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1200"/>
              <a:buFont typeface="IBM Plex Sans"/>
              <a:buNone/>
            </a:pPr>
            <a:r>
              <a:rPr lang="en-GB" sz="12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Confirm SIP alignment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27"/>
          <p:cNvSpPr/>
          <p:nvPr/>
        </p:nvSpPr>
        <p:spPr>
          <a:xfrm>
            <a:off x="0" y="476250"/>
            <a:ext cx="9144000" cy="6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27"/>
          <p:cNvSpPr/>
          <p:nvPr/>
        </p:nvSpPr>
        <p:spPr>
          <a:xfrm>
            <a:off x="476250" y="571500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00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7"/>
          <p:cNvSpPr/>
          <p:nvPr/>
        </p:nvSpPr>
        <p:spPr>
          <a:xfrm>
            <a:off x="1495425" y="571500"/>
            <a:ext cx="78723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Appendix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28"/>
          <p:cNvSpPr/>
          <p:nvPr/>
        </p:nvSpPr>
        <p:spPr>
          <a:xfrm>
            <a:off x="0" y="476250"/>
            <a:ext cx="91440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28"/>
          <p:cNvSpPr/>
          <p:nvPr/>
        </p:nvSpPr>
        <p:spPr>
          <a:xfrm>
            <a:off x="476250" y="571500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-GB" sz="5625">
                <a:latin typeface="IBM Plex Sans"/>
                <a:ea typeface="IBM Plex Sans"/>
                <a:cs typeface="IBM Plex Sans"/>
                <a:sym typeface="IBM Plex Sans"/>
              </a:rPr>
              <a:t>1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8"/>
          <p:cNvSpPr/>
          <p:nvPr/>
        </p:nvSpPr>
        <p:spPr>
          <a:xfrm>
            <a:off x="1495425" y="594179"/>
            <a:ext cx="69153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>
                <a:latin typeface="IBM Plex Sans"/>
                <a:ea typeface="IBM Plex Sans"/>
                <a:cs typeface="IBM Plex Sans"/>
                <a:sym typeface="IBM Plex Sans"/>
              </a:rPr>
              <a:t>List of schemes for ideal portfolio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9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sp>
        <p:nvSpPr>
          <p:cNvPr id="405" name="Google Shape;405;p29"/>
          <p:cNvSpPr/>
          <p:nvPr/>
        </p:nvSpPr>
        <p:spPr>
          <a:xfrm>
            <a:off x="300976" y="1351184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Equity - Aggressive | 30%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Mid | Small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6079487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cxnSp>
        <p:nvCxnSpPr>
          <p:cNvPr id="407" name="Google Shape;407;p29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408" name="Google Shape;408;p2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19275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409" name="Google Shape;409;p29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10" name="Google Shape;410;p29"/>
          <p:cNvGraphicFramePr/>
          <p:nvPr/>
        </p:nvGraphicFramePr>
        <p:xfrm>
          <a:off x="572501" y="193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Invesco India Mid Cap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1" name="Google Shape;411;p29"/>
          <p:cNvGraphicFramePr/>
          <p:nvPr/>
        </p:nvGraphicFramePr>
        <p:xfrm>
          <a:off x="6151050" y="193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24%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(+1%)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2" name="Google Shape;412;p29"/>
          <p:cNvGraphicFramePr/>
          <p:nvPr/>
        </p:nvGraphicFramePr>
        <p:xfrm>
          <a:off x="7533901" y="193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10,058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3" name="Google Shape;413;p29"/>
          <p:cNvGraphicFramePr/>
          <p:nvPr/>
        </p:nvGraphicFramePr>
        <p:xfrm>
          <a:off x="572501" y="2551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Mid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4" name="Google Shape;414;p29"/>
          <p:cNvGraphicFramePr/>
          <p:nvPr/>
        </p:nvGraphicFramePr>
        <p:xfrm>
          <a:off x="6151050" y="2551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25%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(+2%)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5" name="Google Shape;415;p29"/>
          <p:cNvGraphicFramePr/>
          <p:nvPr/>
        </p:nvGraphicFramePr>
        <p:xfrm>
          <a:off x="7533901" y="2551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92,186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6" name="Google Shape;416;p29"/>
          <p:cNvGraphicFramePr/>
          <p:nvPr/>
        </p:nvGraphicFramePr>
        <p:xfrm>
          <a:off x="572501" y="3165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Bandhan Small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7" name="Google Shape;417;p29"/>
          <p:cNvGraphicFramePr/>
          <p:nvPr/>
        </p:nvGraphicFramePr>
        <p:xfrm>
          <a:off x="6151050" y="3165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-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8" name="Google Shape;418;p29"/>
          <p:cNvGraphicFramePr/>
          <p:nvPr/>
        </p:nvGraphicFramePr>
        <p:xfrm>
          <a:off x="7533901" y="3165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19,266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19" name="Google Shape;419;p29"/>
          <p:cNvSpPr/>
          <p:nvPr/>
        </p:nvSpPr>
        <p:spPr>
          <a:xfrm>
            <a:off x="3685082" y="135945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cxnSp>
        <p:nvCxnSpPr>
          <p:cNvPr id="420" name="Google Shape;420;p29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21" name="Google Shape;421;p29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graphicFrame>
        <p:nvGraphicFramePr>
          <p:cNvPr id="422" name="Google Shape;422;p29"/>
          <p:cNvGraphicFramePr/>
          <p:nvPr/>
        </p:nvGraphicFramePr>
        <p:xfrm>
          <a:off x="3838507" y="193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110 | 102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3" name="Google Shape;423;p29"/>
          <p:cNvGraphicFramePr/>
          <p:nvPr/>
        </p:nvGraphicFramePr>
        <p:xfrm>
          <a:off x="3819957" y="2551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93 | 81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4" name="Google Shape;424;p29"/>
          <p:cNvGraphicFramePr/>
          <p:nvPr/>
        </p:nvGraphicFramePr>
        <p:xfrm>
          <a:off x="3819957" y="3165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96 | 82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5" name="Google Shape;425;p29"/>
          <p:cNvSpPr/>
          <p:nvPr/>
        </p:nvSpPr>
        <p:spPr>
          <a:xfrm>
            <a:off x="48519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426" name="Google Shape;426;p29"/>
          <p:cNvGraphicFramePr/>
          <p:nvPr/>
        </p:nvGraphicFramePr>
        <p:xfrm>
          <a:off x="5125579" y="193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7" name="Google Shape;427;p29"/>
          <p:cNvGraphicFramePr/>
          <p:nvPr/>
        </p:nvGraphicFramePr>
        <p:xfrm>
          <a:off x="5107029" y="2551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5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28" name="Google Shape;428;p29"/>
          <p:cNvGraphicFramePr/>
          <p:nvPr/>
        </p:nvGraphicFramePr>
        <p:xfrm>
          <a:off x="5125579" y="3165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29" name="Google Shape;429;p29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0" name="Google Shape;430;p29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31" name="Google Shape;431;p29"/>
          <p:cNvSpPr/>
          <p:nvPr/>
        </p:nvSpPr>
        <p:spPr>
          <a:xfrm>
            <a:off x="24135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 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432" name="Google Shape;432;p29"/>
          <p:cNvGraphicFramePr/>
          <p:nvPr/>
        </p:nvGraphicFramePr>
        <p:xfrm>
          <a:off x="2687179" y="193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7.5%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3" name="Google Shape;433;p29"/>
          <p:cNvGraphicFramePr/>
          <p:nvPr/>
        </p:nvGraphicFramePr>
        <p:xfrm>
          <a:off x="2668629" y="255110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5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7.5%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4" name="Google Shape;434;p29"/>
          <p:cNvGraphicFramePr/>
          <p:nvPr/>
        </p:nvGraphicFramePr>
        <p:xfrm>
          <a:off x="2687179" y="316517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7.5%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5" name="Google Shape;435;p29"/>
          <p:cNvGraphicFramePr/>
          <p:nvPr/>
        </p:nvGraphicFramePr>
        <p:xfrm>
          <a:off x="572501" y="3779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Invesco India Small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6" name="Google Shape;436;p29"/>
          <p:cNvGraphicFramePr/>
          <p:nvPr/>
        </p:nvGraphicFramePr>
        <p:xfrm>
          <a:off x="6151050" y="3779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31%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(+5%)</a:t>
                      </a:r>
                      <a:endParaRPr sz="7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7" name="Google Shape;437;p29"/>
          <p:cNvGraphicFramePr/>
          <p:nvPr/>
        </p:nvGraphicFramePr>
        <p:xfrm>
          <a:off x="7533901" y="3779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9,008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8" name="Google Shape;438;p29"/>
          <p:cNvGraphicFramePr/>
          <p:nvPr/>
        </p:nvGraphicFramePr>
        <p:xfrm>
          <a:off x="3819957" y="3779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89 | 77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39" name="Google Shape;439;p29"/>
          <p:cNvGraphicFramePr/>
          <p:nvPr/>
        </p:nvGraphicFramePr>
        <p:xfrm>
          <a:off x="5125579" y="3779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40" name="Google Shape;440;p29"/>
          <p:cNvGraphicFramePr/>
          <p:nvPr/>
        </p:nvGraphicFramePr>
        <p:xfrm>
          <a:off x="2687179" y="377923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7.5%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41" name="Google Shape;441;p29"/>
          <p:cNvSpPr/>
          <p:nvPr/>
        </p:nvSpPr>
        <p:spPr>
          <a:xfrm>
            <a:off x="7480805" y="1348726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30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30"/>
          <p:cNvSpPr/>
          <p:nvPr/>
        </p:nvSpPr>
        <p:spPr>
          <a:xfrm>
            <a:off x="300976" y="1351184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Equity - Balanced | 40%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Flexi | Value &amp; Contra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48" name="Google Shape;448;p30"/>
          <p:cNvSpPr/>
          <p:nvPr/>
        </p:nvSpPr>
        <p:spPr>
          <a:xfrm>
            <a:off x="6079487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49" name="Google Shape;449;p3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19275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50" name="Google Shape;450;p30"/>
          <p:cNvSpPr/>
          <p:nvPr/>
        </p:nvSpPr>
        <p:spPr>
          <a:xfrm>
            <a:off x="3685082" y="135945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51" name="Google Shape;451;p30"/>
          <p:cNvSpPr/>
          <p:nvPr/>
        </p:nvSpPr>
        <p:spPr>
          <a:xfrm>
            <a:off x="48519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452" name="Google Shape;452;p30"/>
          <p:cNvGraphicFramePr/>
          <p:nvPr/>
        </p:nvGraphicFramePr>
        <p:xfrm>
          <a:off x="3819957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114 | 73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3" name="Google Shape;453;p30"/>
          <p:cNvGraphicFramePr/>
          <p:nvPr/>
        </p:nvGraphicFramePr>
        <p:xfrm>
          <a:off x="3838507" y="193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75 | 49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54" name="Google Shape;454;p30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0"/>
          <p:cNvSpPr/>
          <p:nvPr/>
        </p:nvSpPr>
        <p:spPr>
          <a:xfrm>
            <a:off x="24135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456" name="Google Shape;456;p30"/>
          <p:cNvGraphicFramePr/>
          <p:nvPr/>
        </p:nvGraphicFramePr>
        <p:xfrm>
          <a:off x="2687179" y="19370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7" name="Google Shape;457;p30"/>
          <p:cNvGraphicFramePr/>
          <p:nvPr/>
        </p:nvGraphicFramePr>
        <p:xfrm>
          <a:off x="2668629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5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8" name="Google Shape;458;p30"/>
          <p:cNvGraphicFramePr/>
          <p:nvPr/>
        </p:nvGraphicFramePr>
        <p:xfrm>
          <a:off x="572501" y="18946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Parag Parikh Flexi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59" name="Google Shape;459;p30"/>
          <p:cNvGraphicFramePr/>
          <p:nvPr/>
        </p:nvGraphicFramePr>
        <p:xfrm>
          <a:off x="572501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Flexi Cap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0" name="Google Shape;460;p30"/>
          <p:cNvGraphicFramePr/>
          <p:nvPr/>
        </p:nvGraphicFramePr>
        <p:xfrm>
          <a:off x="4885338" y="194942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1" name="Google Shape;461;p30"/>
          <p:cNvGraphicFramePr/>
          <p:nvPr/>
        </p:nvGraphicFramePr>
        <p:xfrm>
          <a:off x="4885338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2" name="Google Shape;462;p30"/>
          <p:cNvGraphicFramePr/>
          <p:nvPr/>
        </p:nvGraphicFramePr>
        <p:xfrm>
          <a:off x="6180738" y="193766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23%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(+5%)</a:t>
                      </a:r>
                      <a:endParaRPr sz="2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3" name="Google Shape;463;p30"/>
          <p:cNvGraphicFramePr/>
          <p:nvPr/>
        </p:nvGraphicFramePr>
        <p:xfrm>
          <a:off x="6180738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21%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(+3%)</a:t>
                      </a:r>
                      <a:endParaRPr sz="7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4" name="Google Shape;464;p30"/>
          <p:cNvGraphicFramePr/>
          <p:nvPr/>
        </p:nvGraphicFramePr>
        <p:xfrm>
          <a:off x="7548225" y="197089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1,33,969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5" name="Google Shape;465;p30"/>
          <p:cNvGraphicFramePr/>
          <p:nvPr/>
        </p:nvGraphicFramePr>
        <p:xfrm>
          <a:off x="7548225" y="250876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97,451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66" name="Google Shape;466;p30"/>
          <p:cNvSpPr/>
          <p:nvPr/>
        </p:nvSpPr>
        <p:spPr>
          <a:xfrm>
            <a:off x="7480805" y="1348726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467" name="Google Shape;467;p30"/>
          <p:cNvGraphicFramePr/>
          <p:nvPr/>
        </p:nvGraphicFramePr>
        <p:xfrm>
          <a:off x="3819957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98 | 65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8" name="Google Shape;468;p30"/>
          <p:cNvGraphicFramePr/>
          <p:nvPr/>
        </p:nvGraphicFramePr>
        <p:xfrm>
          <a:off x="2687179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69" name="Google Shape;469;p30"/>
          <p:cNvGraphicFramePr/>
          <p:nvPr/>
        </p:nvGraphicFramePr>
        <p:xfrm>
          <a:off x="572488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ICICI Prudential Value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0" name="Google Shape;470;p30"/>
          <p:cNvGraphicFramePr/>
          <p:nvPr/>
        </p:nvGraphicFramePr>
        <p:xfrm>
          <a:off x="4885325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1" name="Google Shape;471;p30"/>
          <p:cNvGraphicFramePr/>
          <p:nvPr/>
        </p:nvGraphicFramePr>
        <p:xfrm>
          <a:off x="6180725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23%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(+3%)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2" name="Google Shape;472;p30"/>
          <p:cNvGraphicFramePr/>
          <p:nvPr/>
        </p:nvGraphicFramePr>
        <p:xfrm>
          <a:off x="7548212" y="309367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61,272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3" name="Google Shape;473;p30"/>
          <p:cNvGraphicFramePr/>
          <p:nvPr/>
        </p:nvGraphicFramePr>
        <p:xfrm>
          <a:off x="3819957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324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118 | 76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4" name="Google Shape;474;p30"/>
          <p:cNvGraphicFramePr/>
          <p:nvPr/>
        </p:nvGraphicFramePr>
        <p:xfrm>
          <a:off x="2687179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p30"/>
          <p:cNvGraphicFramePr/>
          <p:nvPr/>
        </p:nvGraphicFramePr>
        <p:xfrm>
          <a:off x="572501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SBI Contra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6" name="Google Shape;476;p30"/>
          <p:cNvGraphicFramePr/>
          <p:nvPr/>
        </p:nvGraphicFramePr>
        <p:xfrm>
          <a:off x="4885338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p30"/>
          <p:cNvGraphicFramePr/>
          <p:nvPr/>
        </p:nvGraphicFramePr>
        <p:xfrm>
          <a:off x="6180738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26%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(+6%)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8" name="Google Shape;478;p30"/>
          <p:cNvGraphicFramePr/>
          <p:nvPr/>
        </p:nvGraphicFramePr>
        <p:xfrm>
          <a:off x="7548225" y="36491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49,967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9" name="Google Shape;479;p30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480" name="Google Shape;480;p30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1" name="Google Shape;481;p30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2" name="Google Shape;482;p30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3" name="Google Shape;483;p30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484" name="Google Shape;484;p30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0" name="Google Shape;490;p31"/>
          <p:cNvSpPr/>
          <p:nvPr/>
        </p:nvSpPr>
        <p:spPr>
          <a:xfrm>
            <a:off x="300976" y="1351184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Equity - Conservative | 10%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Large Cap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91" name="Google Shape;491;p31"/>
          <p:cNvSpPr/>
          <p:nvPr/>
        </p:nvSpPr>
        <p:spPr>
          <a:xfrm>
            <a:off x="6079487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492" name="Google Shape;492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19275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493" name="Google Shape;493;p31"/>
          <p:cNvSpPr/>
          <p:nvPr/>
        </p:nvSpPr>
        <p:spPr>
          <a:xfrm>
            <a:off x="3685082" y="135945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494" name="Google Shape;494;p31"/>
          <p:cNvSpPr/>
          <p:nvPr/>
        </p:nvSpPr>
        <p:spPr>
          <a:xfrm>
            <a:off x="48519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495" name="Google Shape;495;p31"/>
          <p:cNvGraphicFramePr/>
          <p:nvPr/>
        </p:nvGraphicFramePr>
        <p:xfrm>
          <a:off x="3838507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115 | 84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96" name="Google Shape;496;p31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31"/>
          <p:cNvSpPr/>
          <p:nvPr/>
        </p:nvSpPr>
        <p:spPr>
          <a:xfrm>
            <a:off x="2413503" y="1342934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498" name="Google Shape;498;p31"/>
          <p:cNvGraphicFramePr/>
          <p:nvPr/>
        </p:nvGraphicFramePr>
        <p:xfrm>
          <a:off x="2687179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99" name="Google Shape;499;p31"/>
          <p:cNvGraphicFramePr/>
          <p:nvPr/>
        </p:nvGraphicFramePr>
        <p:xfrm>
          <a:off x="572501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Nippon India Large Cap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0" name="Google Shape;500;p31"/>
          <p:cNvGraphicFramePr/>
          <p:nvPr/>
        </p:nvGraphicFramePr>
        <p:xfrm>
          <a:off x="4885338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1" name="Google Shape;501;p31"/>
          <p:cNvGraphicFramePr/>
          <p:nvPr/>
        </p:nvGraphicFramePr>
        <p:xfrm>
          <a:off x="6180738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(+3%)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02" name="Google Shape;502;p31"/>
          <p:cNvGraphicFramePr/>
          <p:nvPr/>
        </p:nvGraphicFramePr>
        <p:xfrm>
          <a:off x="7548225" y="201324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50,876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03" name="Google Shape;503;p31"/>
          <p:cNvSpPr/>
          <p:nvPr/>
        </p:nvSpPr>
        <p:spPr>
          <a:xfrm>
            <a:off x="7480805" y="1348726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04" name="Google Shape;504;p31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505" name="Google Shape;505;p31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6" name="Google Shape;506;p31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7" name="Google Shape;507;p31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8" name="Google Shape;508;p31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09" name="Google Shape;509;p31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2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32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32"/>
          <p:cNvSpPr/>
          <p:nvPr/>
        </p:nvSpPr>
        <p:spPr>
          <a:xfrm>
            <a:off x="300976" y="1376847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Hybrid | 20%</a:t>
            </a:r>
            <a:b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</a:br>
            <a:r>
              <a:rPr lang="en-GB" sz="750">
                <a:solidFill>
                  <a:srgbClr val="6A6E6E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Dynamic Asset | Multi Asset</a:t>
            </a:r>
            <a:endParaRPr sz="750">
              <a:solidFill>
                <a:srgbClr val="6A6E6E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17" name="Google Shape;517;p32"/>
          <p:cNvSpPr/>
          <p:nvPr/>
        </p:nvSpPr>
        <p:spPr>
          <a:xfrm>
            <a:off x="6079487" y="137684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pic>
        <p:nvPicPr>
          <p:cNvPr id="518" name="Google Shape;518;p3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53188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19" name="Google Shape;519;p32"/>
          <p:cNvSpPr/>
          <p:nvPr/>
        </p:nvSpPr>
        <p:spPr>
          <a:xfrm>
            <a:off x="3685082" y="137684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20" name="Google Shape;520;p32"/>
          <p:cNvSpPr/>
          <p:nvPr/>
        </p:nvSpPr>
        <p:spPr>
          <a:xfrm>
            <a:off x="4851903" y="137684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521" name="Google Shape;521;p32"/>
          <p:cNvGraphicFramePr/>
          <p:nvPr/>
        </p:nvGraphicFramePr>
        <p:xfrm>
          <a:off x="3838507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136 | 55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22" name="Google Shape;522;p32"/>
          <p:cNvSpPr/>
          <p:nvPr/>
        </p:nvSpPr>
        <p:spPr>
          <a:xfrm>
            <a:off x="2413503" y="137684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graphicFrame>
        <p:nvGraphicFramePr>
          <p:cNvPr id="523" name="Google Shape;523;p32"/>
          <p:cNvGraphicFramePr/>
          <p:nvPr/>
        </p:nvGraphicFramePr>
        <p:xfrm>
          <a:off x="2687179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4" name="Google Shape;524;p32"/>
          <p:cNvGraphicFramePr/>
          <p:nvPr/>
        </p:nvGraphicFramePr>
        <p:xfrm>
          <a:off x="572501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Balanced Advantage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5" name="Google Shape;525;p32"/>
          <p:cNvGraphicFramePr/>
          <p:nvPr/>
        </p:nvGraphicFramePr>
        <p:xfrm>
          <a:off x="48853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6" name="Google Shape;526;p32"/>
          <p:cNvGraphicFramePr/>
          <p:nvPr/>
        </p:nvGraphicFramePr>
        <p:xfrm>
          <a:off x="61807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(+7%)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7" name="Google Shape;527;p32"/>
          <p:cNvGraphicFramePr/>
          <p:nvPr/>
        </p:nvGraphicFramePr>
        <p:xfrm>
          <a:off x="7548225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1,07,971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8" name="Google Shape;528;p32"/>
          <p:cNvGraphicFramePr/>
          <p:nvPr/>
        </p:nvGraphicFramePr>
        <p:xfrm>
          <a:off x="3838507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113 | 42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29" name="Google Shape;529;p32"/>
          <p:cNvGraphicFramePr/>
          <p:nvPr/>
        </p:nvGraphicFramePr>
        <p:xfrm>
          <a:off x="2687179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0" name="Google Shape;530;p32"/>
          <p:cNvGraphicFramePr/>
          <p:nvPr/>
        </p:nvGraphicFramePr>
        <p:xfrm>
          <a:off x="572501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Quant Multi Asset Allocation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1" name="Google Shape;531;p32"/>
          <p:cNvGraphicFramePr/>
          <p:nvPr/>
        </p:nvGraphicFramePr>
        <p:xfrm>
          <a:off x="48853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2" name="Google Shape;532;p32"/>
          <p:cNvGraphicFramePr/>
          <p:nvPr/>
        </p:nvGraphicFramePr>
        <p:xfrm>
          <a:off x="61807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27%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(+10%)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33" name="Google Shape;533;p32"/>
          <p:cNvGraphicFramePr/>
          <p:nvPr/>
        </p:nvGraphicFramePr>
        <p:xfrm>
          <a:off x="7548225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4,434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34" name="Google Shape;534;p32"/>
          <p:cNvSpPr/>
          <p:nvPr/>
        </p:nvSpPr>
        <p:spPr>
          <a:xfrm>
            <a:off x="7480805" y="1386826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35" name="Google Shape;535;p32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  <p:cxnSp>
        <p:nvCxnSpPr>
          <p:cNvPr id="536" name="Google Shape;536;p32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7" name="Google Shape;537;p32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8" name="Google Shape;538;p32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9" name="Google Shape;539;p32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40" name="Google Shape;540;p32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33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33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7" name="Google Shape;547;p3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53188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548" name="Google Shape;548;p33"/>
          <p:cNvGraphicFramePr/>
          <p:nvPr/>
        </p:nvGraphicFramePr>
        <p:xfrm>
          <a:off x="3838507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136 | 55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49" name="Google Shape;549;p33"/>
          <p:cNvGraphicFramePr/>
          <p:nvPr/>
        </p:nvGraphicFramePr>
        <p:xfrm>
          <a:off x="2687179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0" name="Google Shape;550;p33"/>
          <p:cNvGraphicFramePr/>
          <p:nvPr/>
        </p:nvGraphicFramePr>
        <p:xfrm>
          <a:off x="572501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Balanced Advantage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1" name="Google Shape;551;p33"/>
          <p:cNvGraphicFramePr/>
          <p:nvPr/>
        </p:nvGraphicFramePr>
        <p:xfrm>
          <a:off x="48853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2" name="Google Shape;552;p33"/>
          <p:cNvGraphicFramePr/>
          <p:nvPr/>
        </p:nvGraphicFramePr>
        <p:xfrm>
          <a:off x="61807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(+7%)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3" name="Google Shape;553;p33"/>
          <p:cNvGraphicFramePr/>
          <p:nvPr/>
        </p:nvGraphicFramePr>
        <p:xfrm>
          <a:off x="7548225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1,07,971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4" name="Google Shape;554;p33"/>
          <p:cNvGraphicFramePr/>
          <p:nvPr/>
        </p:nvGraphicFramePr>
        <p:xfrm>
          <a:off x="3838507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113 | 42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5" name="Google Shape;555;p33"/>
          <p:cNvGraphicFramePr/>
          <p:nvPr/>
        </p:nvGraphicFramePr>
        <p:xfrm>
          <a:off x="2687179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6" name="Google Shape;556;p33"/>
          <p:cNvGraphicFramePr/>
          <p:nvPr/>
        </p:nvGraphicFramePr>
        <p:xfrm>
          <a:off x="572501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Quant Multi Asset Allocation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7" name="Google Shape;557;p33"/>
          <p:cNvGraphicFramePr/>
          <p:nvPr/>
        </p:nvGraphicFramePr>
        <p:xfrm>
          <a:off x="48853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8" name="Google Shape;558;p33"/>
          <p:cNvGraphicFramePr/>
          <p:nvPr/>
        </p:nvGraphicFramePr>
        <p:xfrm>
          <a:off x="61807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27%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(+10%)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59" name="Google Shape;559;p33"/>
          <p:cNvGraphicFramePr/>
          <p:nvPr/>
        </p:nvGraphicFramePr>
        <p:xfrm>
          <a:off x="7548225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4,434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60" name="Google Shape;560;p33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1" name="Google Shape;561;p33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2" name="Google Shape;562;p33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3" name="Google Shape;563;p33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64" name="Google Shape;564;p33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65" name="Google Shape;565;p33"/>
          <p:cNvSpPr/>
          <p:nvPr/>
        </p:nvSpPr>
        <p:spPr>
          <a:xfrm>
            <a:off x="300976" y="1383432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Gold | 5.1%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Gold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66" name="Google Shape;566;p33"/>
          <p:cNvSpPr/>
          <p:nvPr/>
        </p:nvSpPr>
        <p:spPr>
          <a:xfrm>
            <a:off x="6079487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67" name="Google Shape;567;p33"/>
          <p:cNvSpPr/>
          <p:nvPr/>
        </p:nvSpPr>
        <p:spPr>
          <a:xfrm>
            <a:off x="3685082" y="139170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68" name="Google Shape;568;p33"/>
          <p:cNvSpPr/>
          <p:nvPr/>
        </p:nvSpPr>
        <p:spPr>
          <a:xfrm>
            <a:off x="4851903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69" name="Google Shape;569;p33"/>
          <p:cNvSpPr/>
          <p:nvPr/>
        </p:nvSpPr>
        <p:spPr>
          <a:xfrm>
            <a:off x="2413503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 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0" name="Google Shape;570;p33"/>
          <p:cNvSpPr/>
          <p:nvPr/>
        </p:nvSpPr>
        <p:spPr>
          <a:xfrm>
            <a:off x="7480805" y="139049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71" name="Google Shape;571;p33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34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7" name="Google Shape;577;p34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78" name="Google Shape;578;p3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53188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579" name="Google Shape;579;p34"/>
          <p:cNvGraphicFramePr/>
          <p:nvPr/>
        </p:nvGraphicFramePr>
        <p:xfrm>
          <a:off x="3838507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136 | 55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0" name="Google Shape;580;p34"/>
          <p:cNvGraphicFramePr/>
          <p:nvPr/>
        </p:nvGraphicFramePr>
        <p:xfrm>
          <a:off x="2687179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1" name="Google Shape;581;p34"/>
          <p:cNvGraphicFramePr/>
          <p:nvPr/>
        </p:nvGraphicFramePr>
        <p:xfrm>
          <a:off x="572501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Balanced Advantage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2" name="Google Shape;582;p34"/>
          <p:cNvGraphicFramePr/>
          <p:nvPr/>
        </p:nvGraphicFramePr>
        <p:xfrm>
          <a:off x="48853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3" name="Google Shape;583;p34"/>
          <p:cNvGraphicFramePr/>
          <p:nvPr/>
        </p:nvGraphicFramePr>
        <p:xfrm>
          <a:off x="61807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(+7%)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4" name="Google Shape;584;p34"/>
          <p:cNvGraphicFramePr/>
          <p:nvPr/>
        </p:nvGraphicFramePr>
        <p:xfrm>
          <a:off x="7548225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1,07,971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5" name="Google Shape;585;p34"/>
          <p:cNvGraphicFramePr/>
          <p:nvPr/>
        </p:nvGraphicFramePr>
        <p:xfrm>
          <a:off x="3838507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113 | 42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6" name="Google Shape;586;p34"/>
          <p:cNvGraphicFramePr/>
          <p:nvPr/>
        </p:nvGraphicFramePr>
        <p:xfrm>
          <a:off x="2687179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7" name="Google Shape;587;p34"/>
          <p:cNvGraphicFramePr/>
          <p:nvPr/>
        </p:nvGraphicFramePr>
        <p:xfrm>
          <a:off x="572501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Quant Multi Asset Allocation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8" name="Google Shape;588;p34"/>
          <p:cNvGraphicFramePr/>
          <p:nvPr/>
        </p:nvGraphicFramePr>
        <p:xfrm>
          <a:off x="48853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89" name="Google Shape;589;p34"/>
          <p:cNvGraphicFramePr/>
          <p:nvPr/>
        </p:nvGraphicFramePr>
        <p:xfrm>
          <a:off x="61807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27%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(+10%)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90" name="Google Shape;590;p34"/>
          <p:cNvGraphicFramePr/>
          <p:nvPr/>
        </p:nvGraphicFramePr>
        <p:xfrm>
          <a:off x="7548225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4,434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591" name="Google Shape;591;p34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2" name="Google Shape;592;p34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3" name="Google Shape;593;p34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4" name="Google Shape;594;p34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95" name="Google Shape;595;p34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6" name="Google Shape;596;p34"/>
          <p:cNvSpPr/>
          <p:nvPr/>
        </p:nvSpPr>
        <p:spPr>
          <a:xfrm>
            <a:off x="300976" y="1383432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Global | 5.1%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Global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97" name="Google Shape;597;p34"/>
          <p:cNvSpPr/>
          <p:nvPr/>
        </p:nvSpPr>
        <p:spPr>
          <a:xfrm>
            <a:off x="6079487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598" name="Google Shape;598;p34"/>
          <p:cNvSpPr/>
          <p:nvPr/>
        </p:nvSpPr>
        <p:spPr>
          <a:xfrm>
            <a:off x="3685082" y="139170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599" name="Google Shape;599;p34"/>
          <p:cNvSpPr/>
          <p:nvPr/>
        </p:nvSpPr>
        <p:spPr>
          <a:xfrm>
            <a:off x="4851903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00" name="Google Shape;600;p34"/>
          <p:cNvSpPr/>
          <p:nvPr/>
        </p:nvSpPr>
        <p:spPr>
          <a:xfrm>
            <a:off x="2413503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 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01" name="Google Shape;601;p34"/>
          <p:cNvSpPr/>
          <p:nvPr/>
        </p:nvSpPr>
        <p:spPr>
          <a:xfrm>
            <a:off x="7480805" y="139049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02" name="Google Shape;602;p34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35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8" name="Google Shape;608;p35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09" name="Google Shape;609;p3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53188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610" name="Google Shape;610;p35"/>
          <p:cNvGraphicFramePr/>
          <p:nvPr/>
        </p:nvGraphicFramePr>
        <p:xfrm>
          <a:off x="3838507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136 | 55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1" name="Google Shape;611;p35"/>
          <p:cNvGraphicFramePr/>
          <p:nvPr/>
        </p:nvGraphicFramePr>
        <p:xfrm>
          <a:off x="2687179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2" name="Google Shape;612;p35"/>
          <p:cNvGraphicFramePr/>
          <p:nvPr/>
        </p:nvGraphicFramePr>
        <p:xfrm>
          <a:off x="572501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Balanced Advantage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3" name="Google Shape;613;p35"/>
          <p:cNvGraphicFramePr/>
          <p:nvPr/>
        </p:nvGraphicFramePr>
        <p:xfrm>
          <a:off x="48853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4" name="Google Shape;614;p35"/>
          <p:cNvGraphicFramePr/>
          <p:nvPr/>
        </p:nvGraphicFramePr>
        <p:xfrm>
          <a:off x="61807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(+7%)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5" name="Google Shape;615;p35"/>
          <p:cNvGraphicFramePr/>
          <p:nvPr/>
        </p:nvGraphicFramePr>
        <p:xfrm>
          <a:off x="7548225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1,07,971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6" name="Google Shape;616;p35"/>
          <p:cNvGraphicFramePr/>
          <p:nvPr/>
        </p:nvGraphicFramePr>
        <p:xfrm>
          <a:off x="3838507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113 | 42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7" name="Google Shape;617;p35"/>
          <p:cNvGraphicFramePr/>
          <p:nvPr/>
        </p:nvGraphicFramePr>
        <p:xfrm>
          <a:off x="2687179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8" name="Google Shape;618;p35"/>
          <p:cNvGraphicFramePr/>
          <p:nvPr/>
        </p:nvGraphicFramePr>
        <p:xfrm>
          <a:off x="572501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Quant Multi Asset Allocation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19" name="Google Shape;619;p35"/>
          <p:cNvGraphicFramePr/>
          <p:nvPr/>
        </p:nvGraphicFramePr>
        <p:xfrm>
          <a:off x="48853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0" name="Google Shape;620;p35"/>
          <p:cNvGraphicFramePr/>
          <p:nvPr/>
        </p:nvGraphicFramePr>
        <p:xfrm>
          <a:off x="61807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27%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(+10%)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21" name="Google Shape;621;p35"/>
          <p:cNvGraphicFramePr/>
          <p:nvPr/>
        </p:nvGraphicFramePr>
        <p:xfrm>
          <a:off x="7548225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4,434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22" name="Google Shape;622;p35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3" name="Google Shape;623;p35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4" name="Google Shape;624;p35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5" name="Google Shape;625;p35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26" name="Google Shape;626;p35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27" name="Google Shape;627;p35"/>
          <p:cNvSpPr/>
          <p:nvPr/>
        </p:nvSpPr>
        <p:spPr>
          <a:xfrm>
            <a:off x="300976" y="1383432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Debt Like | 5.1%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Gold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28" name="Google Shape;628;p35"/>
          <p:cNvSpPr/>
          <p:nvPr/>
        </p:nvSpPr>
        <p:spPr>
          <a:xfrm>
            <a:off x="6079487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29" name="Google Shape;629;p35"/>
          <p:cNvSpPr/>
          <p:nvPr/>
        </p:nvSpPr>
        <p:spPr>
          <a:xfrm>
            <a:off x="3685082" y="139170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30" name="Google Shape;630;p35"/>
          <p:cNvSpPr/>
          <p:nvPr/>
        </p:nvSpPr>
        <p:spPr>
          <a:xfrm>
            <a:off x="4851903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31" name="Google Shape;631;p35"/>
          <p:cNvSpPr/>
          <p:nvPr/>
        </p:nvSpPr>
        <p:spPr>
          <a:xfrm>
            <a:off x="2413503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 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32" name="Google Shape;632;p35"/>
          <p:cNvSpPr/>
          <p:nvPr/>
        </p:nvSpPr>
        <p:spPr>
          <a:xfrm>
            <a:off x="7480805" y="139049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33" name="Google Shape;633;p35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6"/>
          <p:cNvSpPr/>
          <p:nvPr/>
        </p:nvSpPr>
        <p:spPr>
          <a:xfrm>
            <a:off x="476250" y="465667"/>
            <a:ext cx="7743900" cy="3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Your </a:t>
            </a:r>
            <a:r>
              <a:rPr lang="en-GB" sz="2100" b="0" i="0" u="none" strike="noStrike" cap="none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SIP strategy - at a </a:t>
            </a:r>
            <a:r>
              <a:rPr lang="en-GB" sz="210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scheme level</a:t>
            </a:r>
            <a:endParaRPr sz="2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36"/>
          <p:cNvSpPr/>
          <p:nvPr/>
        </p:nvSpPr>
        <p:spPr>
          <a:xfrm>
            <a:off x="476250" y="765680"/>
            <a:ext cx="7639200" cy="1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36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125"/>
              <a:buFont typeface="IBM Plex Sans"/>
              <a:buNone/>
            </a:pPr>
            <a:r>
              <a:rPr lang="en-GB" sz="1125">
                <a:solidFill>
                  <a:srgbClr val="6A6E6E"/>
                </a:solidFill>
                <a:latin typeface="IBM Plex Sans"/>
                <a:ea typeface="IBM Plex Sans"/>
                <a:cs typeface="IBM Plex Sans"/>
                <a:sym typeface="IBM Plex Sans"/>
              </a:rPr>
              <a:t>Only the top schemes for every sub-category</a:t>
            </a:r>
            <a:endParaRPr sz="11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0" name="Google Shape;640;p3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14575" y="1853188"/>
            <a:ext cx="8427600" cy="9675"/>
          </a:xfrm>
          <a:prstGeom prst="rect">
            <a:avLst/>
          </a:prstGeom>
          <a:noFill/>
          <a:ln w="9525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641" name="Google Shape;641;p36"/>
          <p:cNvGraphicFramePr/>
          <p:nvPr/>
        </p:nvGraphicFramePr>
        <p:xfrm>
          <a:off x="3838507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136 | 55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2" name="Google Shape;642;p36"/>
          <p:cNvGraphicFramePr/>
          <p:nvPr/>
        </p:nvGraphicFramePr>
        <p:xfrm>
          <a:off x="2687179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3" name="Google Shape;643;p36"/>
          <p:cNvGraphicFramePr/>
          <p:nvPr/>
        </p:nvGraphicFramePr>
        <p:xfrm>
          <a:off x="572501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HDFC Balanced Advantage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4" name="Google Shape;644;p36"/>
          <p:cNvGraphicFramePr/>
          <p:nvPr/>
        </p:nvGraphicFramePr>
        <p:xfrm>
          <a:off x="48853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5" name="Google Shape;645;p36"/>
          <p:cNvGraphicFramePr/>
          <p:nvPr/>
        </p:nvGraphicFramePr>
        <p:xfrm>
          <a:off x="6180738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19%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(+7%)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6" name="Google Shape;646;p36"/>
          <p:cNvGraphicFramePr/>
          <p:nvPr/>
        </p:nvGraphicFramePr>
        <p:xfrm>
          <a:off x="7548225" y="20471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1,07,971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7" name="Google Shape;647;p36"/>
          <p:cNvGraphicFramePr/>
          <p:nvPr/>
        </p:nvGraphicFramePr>
        <p:xfrm>
          <a:off x="3838507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287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113 | 42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8" name="Google Shape;648;p36"/>
          <p:cNvGraphicFramePr/>
          <p:nvPr/>
        </p:nvGraphicFramePr>
        <p:xfrm>
          <a:off x="2687179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019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10%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49" name="Google Shape;649;p36"/>
          <p:cNvGraphicFramePr/>
          <p:nvPr/>
        </p:nvGraphicFramePr>
        <p:xfrm>
          <a:off x="572501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2035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Quant Multi Asset Allocation Fund Direct Growth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0" name="Google Shape;650;p36"/>
          <p:cNvGraphicFramePr/>
          <p:nvPr/>
        </p:nvGraphicFramePr>
        <p:xfrm>
          <a:off x="48853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1</a:t>
                      </a:r>
                      <a:endParaRPr sz="1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1" name="Google Shape;651;p36"/>
          <p:cNvGraphicFramePr/>
          <p:nvPr/>
        </p:nvGraphicFramePr>
        <p:xfrm>
          <a:off x="6180738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69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27% </a:t>
                      </a:r>
                      <a:r>
                        <a:rPr lang="en-GB" sz="7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(+10%)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52" name="Google Shape;652;p36"/>
          <p:cNvGraphicFramePr/>
          <p:nvPr/>
        </p:nvGraphicFramePr>
        <p:xfrm>
          <a:off x="7548225" y="265675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1513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729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900">
                          <a:solidFill>
                            <a:srgbClr val="6A6E6E"/>
                          </a:solidFill>
                          <a:latin typeface="IBM Plex Sans Medium"/>
                          <a:ea typeface="IBM Plex Sans Medium"/>
                          <a:cs typeface="IBM Plex Sans Medium"/>
                          <a:sym typeface="IBM Plex Sans Medium"/>
                        </a:rPr>
                        <a:t>4,434 Cr</a:t>
                      </a:r>
                      <a:endParaRPr sz="900">
                        <a:solidFill>
                          <a:srgbClr val="6A6E6E"/>
                        </a:solidFill>
                        <a:latin typeface="IBM Plex Sans Medium"/>
                        <a:ea typeface="IBM Plex Sans Medium"/>
                        <a:cs typeface="IBM Plex Sans Medium"/>
                        <a:sym typeface="IBM Plex Sans Medium"/>
                      </a:endParaRPr>
                    </a:p>
                  </a:txBody>
                  <a:tcPr marL="28575" marR="28575" marT="19050" marB="1905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653" name="Google Shape;653;p36"/>
          <p:cNvCxnSpPr/>
          <p:nvPr/>
        </p:nvCxnSpPr>
        <p:spPr>
          <a:xfrm>
            <a:off x="38199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4" name="Google Shape;654;p36"/>
          <p:cNvCxnSpPr/>
          <p:nvPr/>
        </p:nvCxnSpPr>
        <p:spPr>
          <a:xfrm>
            <a:off x="5144117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5" name="Google Shape;655;p36"/>
          <p:cNvCxnSpPr/>
          <p:nvPr/>
        </p:nvCxnSpPr>
        <p:spPr>
          <a:xfrm>
            <a:off x="6163496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6" name="Google Shape;656;p36"/>
          <p:cNvCxnSpPr/>
          <p:nvPr/>
        </p:nvCxnSpPr>
        <p:spPr>
          <a:xfrm>
            <a:off x="7716275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657" name="Google Shape;657;p36"/>
          <p:cNvCxnSpPr/>
          <p:nvPr/>
        </p:nvCxnSpPr>
        <p:spPr>
          <a:xfrm>
            <a:off x="2600738" y="1226625"/>
            <a:ext cx="0" cy="3338100"/>
          </a:xfrm>
          <a:prstGeom prst="straightConnector1">
            <a:avLst/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58" name="Google Shape;658;p36"/>
          <p:cNvSpPr/>
          <p:nvPr/>
        </p:nvSpPr>
        <p:spPr>
          <a:xfrm>
            <a:off x="300976" y="1383432"/>
            <a:ext cx="2376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Solution | 5.1%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Gold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59" name="Google Shape;659;p36"/>
          <p:cNvSpPr/>
          <p:nvPr/>
        </p:nvSpPr>
        <p:spPr>
          <a:xfrm>
            <a:off x="6079487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 Rolling Return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(alpha against category)</a:t>
            </a:r>
            <a:endParaRPr sz="750" b="1">
              <a:solidFill>
                <a:srgbClr val="111111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660" name="Google Shape;660;p36"/>
          <p:cNvSpPr/>
          <p:nvPr/>
        </p:nvSpPr>
        <p:spPr>
          <a:xfrm>
            <a:off x="3685082" y="1391707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Upside | Downside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7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5Y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61" name="Google Shape;661;p36"/>
          <p:cNvSpPr/>
          <p:nvPr/>
        </p:nvSpPr>
        <p:spPr>
          <a:xfrm>
            <a:off x="4851903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Power Rank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62" name="Google Shape;662;p36"/>
          <p:cNvSpPr/>
          <p:nvPr/>
        </p:nvSpPr>
        <p:spPr>
          <a:xfrm>
            <a:off x="2413503" y="1375182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% Monthly 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Allocation </a:t>
            </a:r>
            <a:endParaRPr sz="7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63" name="Google Shape;663;p36"/>
          <p:cNvSpPr/>
          <p:nvPr/>
        </p:nvSpPr>
        <p:spPr>
          <a:xfrm>
            <a:off x="7480805" y="1390499"/>
            <a:ext cx="16200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1050">
                <a:solidFill>
                  <a:srgbClr val="111111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AUM</a:t>
            </a:r>
            <a:endParaRPr sz="1050">
              <a:solidFill>
                <a:srgbClr val="111111"/>
              </a:solidFill>
              <a:latin typeface="IBM Plex Sans Medium"/>
              <a:ea typeface="IBM Plex Sans Medium"/>
              <a:cs typeface="IBM Plex Sans Medium"/>
              <a:sym typeface="IBM Plex Sans Medium"/>
            </a:endParaRPr>
          </a:p>
          <a:p>
            <a:pPr marL="0" lvl="0" indent="0" algn="ctr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A6E6E"/>
              </a:buClr>
              <a:buSzPts val="1050"/>
              <a:buFont typeface="IBM Plex Sans"/>
              <a:buNone/>
            </a:pP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(</a:t>
            </a:r>
            <a:r>
              <a:rPr lang="en-GB" sz="850">
                <a:solidFill>
                  <a:srgbClr val="000000"/>
                </a:solidFill>
                <a:latin typeface="IBM Plex Sans Medium"/>
                <a:ea typeface="IBM Plex Sans Medium"/>
                <a:cs typeface="IBM Plex Sans Medium"/>
                <a:sym typeface="IBM Plex Sans Medium"/>
              </a:rPr>
              <a:t>as of 31 Jan’26</a:t>
            </a:r>
            <a:r>
              <a:rPr lang="en-GB" sz="850">
                <a:latin typeface="IBM Plex Sans Medium"/>
                <a:ea typeface="IBM Plex Sans Medium"/>
                <a:cs typeface="IBM Plex Sans Medium"/>
                <a:sym typeface="IBM Plex Sans Medium"/>
              </a:rPr>
              <a:t>)</a:t>
            </a:r>
            <a:endParaRPr sz="850">
              <a:latin typeface="IBM Plex Sans Medium"/>
              <a:ea typeface="IBM Plex Sans Medium"/>
              <a:cs typeface="IBM Plex Sans Medium"/>
              <a:sym typeface="IBM Plex Sans Medium"/>
            </a:endParaRPr>
          </a:p>
        </p:txBody>
      </p:sp>
      <p:sp>
        <p:nvSpPr>
          <p:cNvPr id="664" name="Google Shape;664;p36"/>
          <p:cNvSpPr/>
          <p:nvPr/>
        </p:nvSpPr>
        <p:spPr>
          <a:xfrm>
            <a:off x="400050" y="1209675"/>
            <a:ext cx="8470200" cy="3372000"/>
          </a:xfrm>
          <a:prstGeom prst="roundRect">
            <a:avLst>
              <a:gd name="adj" fmla="val 10435"/>
            </a:avLst>
          </a:prstGeom>
          <a:noFill/>
          <a:ln w="50800" cap="flat" cmpd="sng">
            <a:solidFill>
              <a:srgbClr val="F8F8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37"/>
          <p:cNvSpPr/>
          <p:nvPr/>
        </p:nvSpPr>
        <p:spPr>
          <a:xfrm>
            <a:off x="0" y="476250"/>
            <a:ext cx="91440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37"/>
          <p:cNvSpPr/>
          <p:nvPr/>
        </p:nvSpPr>
        <p:spPr>
          <a:xfrm>
            <a:off x="476250" y="571500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-GB" sz="5625">
                <a:latin typeface="IBM Plex Sans"/>
                <a:ea typeface="IBM Plex Sans"/>
                <a:cs typeface="IBM Plex Sans"/>
                <a:sym typeface="IBM Plex Sans"/>
              </a:rPr>
              <a:t>2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2" name="Google Shape;672;p37"/>
          <p:cNvSpPr/>
          <p:nvPr/>
        </p:nvSpPr>
        <p:spPr>
          <a:xfrm>
            <a:off x="1495425" y="594179"/>
            <a:ext cx="69153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>
                <a:latin typeface="IBM Plex Sans"/>
                <a:ea typeface="IBM Plex Sans"/>
                <a:cs typeface="IBM Plex Sans"/>
                <a:sym typeface="IBM Plex Sans"/>
              </a:rPr>
              <a:t>List of schemes from corpus to be sold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8"/>
          <p:cNvSpPr/>
          <p:nvPr/>
        </p:nvSpPr>
        <p:spPr>
          <a:xfrm>
            <a:off x="201852" y="361400"/>
            <a:ext cx="27738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1800" b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 Sell</a:t>
            </a:r>
            <a:endParaRPr sz="1800" b="1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678" name="Google Shape;678;p38"/>
          <p:cNvGraphicFramePr/>
          <p:nvPr/>
        </p:nvGraphicFramePr>
        <p:xfrm>
          <a:off x="304800" y="914400"/>
          <a:ext cx="8001000" cy="16002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313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Scheme Name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Sell Value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Reason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ICICI Pru Infrastructure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1.4L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Insignificant allocation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ICICI Pru Phrm Hlthcare and Dgnstcs PHD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27K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Insignificant allocation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Parag Parikh Conservative Hybrid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3.4L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Lost opportunity cost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Franklin India Large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43.7L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Off-track + Missed gains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DSP Midcap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60.9L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Off-track + Missed gains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Mirae Asset Focused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4.1L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Out-of-form + Missed gains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UTI Flexi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44.0L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Out-of-form + Missed gains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6">
          <a:extLst>
            <a:ext uri="{FF2B5EF4-FFF2-40B4-BE49-F238E27FC236}">
              <a16:creationId xmlns:a16="http://schemas.microsoft.com/office/drawing/2014/main" id="{3E158E30-5040-444E-7F45-8B46B74B3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38">
            <a:extLst>
              <a:ext uri="{FF2B5EF4-FFF2-40B4-BE49-F238E27FC236}">
                <a16:creationId xmlns:a16="http://schemas.microsoft.com/office/drawing/2014/main" id="{FF9A0665-80E8-1BC2-D411-249B41921C08}"/>
              </a:ext>
            </a:extLst>
          </p:cNvPr>
          <p:cNvSpPr/>
          <p:nvPr/>
        </p:nvSpPr>
        <p:spPr>
          <a:xfrm>
            <a:off x="201852" y="361400"/>
            <a:ext cx="27738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lnSpc>
                <a:spcPct val="112000"/>
              </a:lnSpc>
              <a:buClr>
                <a:srgbClr val="232323"/>
              </a:buClr>
              <a:buSzPts val="2100"/>
            </a:pPr>
            <a:r>
              <a:rPr lang="en-GB" sz="1800" b="1" dirty="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Partial Sell</a:t>
            </a:r>
          </a:p>
        </p:txBody>
      </p:sp>
      <p:graphicFrame>
        <p:nvGraphicFramePr>
          <p:cNvPr id="678" name="Google Shape;678;p38">
            <a:extLst>
              <a:ext uri="{FF2B5EF4-FFF2-40B4-BE49-F238E27FC236}">
                <a16:creationId xmlns:a16="http://schemas.microsoft.com/office/drawing/2014/main" id="{C242CAEF-59DE-D569-1C45-750A7D952ADD}"/>
              </a:ext>
            </a:extLst>
          </p:cNvPr>
          <p:cNvGraphicFramePr/>
          <p:nvPr/>
        </p:nvGraphicFramePr>
        <p:xfrm>
          <a:off x="304800" y="914400"/>
          <a:ext cx="8001000" cy="160020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313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Scheme Name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Sell Value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Reason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ICICI Pru Infrastructure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1.4L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Insignificant allocation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ICICI Pru Phrm Hlthcare and Dgnstcs PHD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27K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Insignificant allocation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Parag Parikh Conservative Hybrid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3.4L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Lost opportunity cost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Franklin India Large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43.7L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Off-track + Missed gains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DSP Midcap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60.9L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Off-track + Missed gains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Mirae Asset Focused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4.1L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Out-of-form + Missed gains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UTI Flexi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44.0L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Out-of-form + Missed gains + Insignificant EL/STCG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77312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6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Google Shape;686;p39"/>
          <p:cNvSpPr/>
          <p:nvPr/>
        </p:nvSpPr>
        <p:spPr>
          <a:xfrm>
            <a:off x="0" y="476250"/>
            <a:ext cx="91440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39"/>
          <p:cNvSpPr/>
          <p:nvPr/>
        </p:nvSpPr>
        <p:spPr>
          <a:xfrm>
            <a:off x="476250" y="571500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-GB" sz="5625">
                <a:latin typeface="IBM Plex Sans"/>
                <a:ea typeface="IBM Plex Sans"/>
                <a:cs typeface="IBM Plex Sans"/>
                <a:sym typeface="IBM Plex Sans"/>
              </a:rPr>
              <a:t>3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8" name="Google Shape;688;p39"/>
          <p:cNvSpPr/>
          <p:nvPr/>
        </p:nvSpPr>
        <p:spPr>
          <a:xfrm>
            <a:off x="1495425" y="594175"/>
            <a:ext cx="7648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>
                <a:latin typeface="IBM Plex Sans"/>
                <a:ea typeface="IBM Plex Sans"/>
                <a:cs typeface="IBM Plex Sans"/>
                <a:sym typeface="IBM Plex Sans"/>
              </a:rPr>
              <a:t>List of schemes from corpus to be retained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0"/>
          <p:cNvSpPr/>
          <p:nvPr/>
        </p:nvSpPr>
        <p:spPr>
          <a:xfrm>
            <a:off x="201852" y="361400"/>
            <a:ext cx="27738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1800" b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Complete Retain</a:t>
            </a:r>
            <a:endParaRPr sz="1800" b="1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694" name="Google Shape;694;p40"/>
          <p:cNvGraphicFramePr/>
          <p:nvPr/>
        </p:nvGraphicFramePr>
        <p:xfrm>
          <a:off x="304800" y="914400"/>
          <a:ext cx="8001000" cy="40005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313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Scheme Name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Retained Value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Reason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Bandhan Small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27K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Fits into strategy - 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2">
          <a:extLst>
            <a:ext uri="{FF2B5EF4-FFF2-40B4-BE49-F238E27FC236}">
              <a16:creationId xmlns:a16="http://schemas.microsoft.com/office/drawing/2014/main" id="{1E365C9D-941A-566C-9123-0905037CA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0">
            <a:extLst>
              <a:ext uri="{FF2B5EF4-FFF2-40B4-BE49-F238E27FC236}">
                <a16:creationId xmlns:a16="http://schemas.microsoft.com/office/drawing/2014/main" id="{5BE2AE08-FF52-2E6A-7CE5-219C8538A55A}"/>
              </a:ext>
            </a:extLst>
          </p:cNvPr>
          <p:cNvSpPr/>
          <p:nvPr/>
        </p:nvSpPr>
        <p:spPr>
          <a:xfrm>
            <a:off x="201852" y="361400"/>
            <a:ext cx="27738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1800" b="1" dirty="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Partial Retain</a:t>
            </a:r>
            <a:endParaRPr sz="1800" b="1" dirty="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694" name="Google Shape;694;p40">
            <a:extLst>
              <a:ext uri="{FF2B5EF4-FFF2-40B4-BE49-F238E27FC236}">
                <a16:creationId xmlns:a16="http://schemas.microsoft.com/office/drawing/2014/main" id="{800DFDC0-91C5-E9FF-DA6C-11AC9FB75898}"/>
              </a:ext>
            </a:extLst>
          </p:cNvPr>
          <p:cNvGraphicFramePr/>
          <p:nvPr/>
        </p:nvGraphicFramePr>
        <p:xfrm>
          <a:off x="304800" y="914400"/>
          <a:ext cx="8001000" cy="400050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313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Scheme Name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Retained Value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Reason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Bandhan Small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27K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Fits into strategy - 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49272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3E9"/>
        </a:solidFill>
        <a:effectLst/>
      </p:bgPr>
    </p:bg>
    <p:spTree>
      <p:nvGrpSpPr>
        <p:cNvPr id="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41"/>
          <p:cNvSpPr/>
          <p:nvPr/>
        </p:nvSpPr>
        <p:spPr>
          <a:xfrm>
            <a:off x="0" y="476250"/>
            <a:ext cx="9144000" cy="14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41"/>
          <p:cNvSpPr/>
          <p:nvPr/>
        </p:nvSpPr>
        <p:spPr>
          <a:xfrm>
            <a:off x="476250" y="571500"/>
            <a:ext cx="1285800" cy="50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 b="0" i="0" u="none" strike="noStrike" cap="none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0</a:t>
            </a:r>
            <a:r>
              <a:rPr lang="en-GB" sz="5625">
                <a:latin typeface="IBM Plex Sans"/>
                <a:ea typeface="IBM Plex Sans"/>
                <a:cs typeface="IBM Plex Sans"/>
                <a:sym typeface="IBM Plex Sans"/>
              </a:rPr>
              <a:t>4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4" name="Google Shape;704;p41"/>
          <p:cNvSpPr/>
          <p:nvPr/>
        </p:nvSpPr>
        <p:spPr>
          <a:xfrm>
            <a:off x="1495425" y="594175"/>
            <a:ext cx="7648500" cy="12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000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625"/>
              <a:buFont typeface="IBM Plex Sans"/>
              <a:buNone/>
            </a:pPr>
            <a:r>
              <a:rPr lang="en-GB" sz="5625">
                <a:latin typeface="IBM Plex Sans"/>
                <a:ea typeface="IBM Plex Sans"/>
                <a:cs typeface="IBM Plex Sans"/>
                <a:sym typeface="IBM Plex Sans"/>
              </a:rPr>
              <a:t>List of new schemes to be bought</a:t>
            </a:r>
            <a:endParaRPr sz="5625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2"/>
          <p:cNvSpPr/>
          <p:nvPr/>
        </p:nvSpPr>
        <p:spPr>
          <a:xfrm>
            <a:off x="201852" y="361400"/>
            <a:ext cx="27738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1800" b="1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Fresh Buy</a:t>
            </a:r>
            <a:endParaRPr sz="1800" b="1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710" name="Google Shape;710;p42"/>
          <p:cNvGraphicFramePr/>
          <p:nvPr/>
        </p:nvGraphicFramePr>
        <p:xfrm>
          <a:off x="304800" y="914400"/>
          <a:ext cx="8001000" cy="2200275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313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Scheme Name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Buy Value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Reason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Invesco India Smallcap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11.9L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HDFC Mid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11.9L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Invesco India Midcap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11.9L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HDFC Flexi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Parag Parikh Flexi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ICICI Prudential Value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SBI Contra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Nippon India Large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HDFC Balanced Advantage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Quant Multi Asset Allocation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8">
          <a:extLst>
            <a:ext uri="{FF2B5EF4-FFF2-40B4-BE49-F238E27FC236}">
              <a16:creationId xmlns:a16="http://schemas.microsoft.com/office/drawing/2014/main" id="{E749A660-084F-841E-7C7D-442D32DC87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2">
            <a:extLst>
              <a:ext uri="{FF2B5EF4-FFF2-40B4-BE49-F238E27FC236}">
                <a16:creationId xmlns:a16="http://schemas.microsoft.com/office/drawing/2014/main" id="{1995ADA4-A892-2D2E-91B6-E41EC6B749E9}"/>
              </a:ext>
            </a:extLst>
          </p:cNvPr>
          <p:cNvSpPr/>
          <p:nvPr/>
        </p:nvSpPr>
        <p:spPr>
          <a:xfrm>
            <a:off x="201852" y="361400"/>
            <a:ext cx="2773800" cy="3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232323"/>
              </a:buClr>
              <a:buSzPts val="2100"/>
              <a:buFont typeface="IBM Plex Sans"/>
              <a:buNone/>
            </a:pPr>
            <a:r>
              <a:rPr lang="en-GB" sz="1800" b="1" dirty="0">
                <a:solidFill>
                  <a:srgbClr val="232323"/>
                </a:solidFill>
                <a:latin typeface="IBM Plex Sans"/>
                <a:ea typeface="IBM Plex Sans"/>
                <a:cs typeface="IBM Plex Sans"/>
                <a:sym typeface="IBM Plex Sans"/>
              </a:rPr>
              <a:t>Buy More</a:t>
            </a:r>
            <a:endParaRPr sz="1800" b="1" dirty="0">
              <a:solidFill>
                <a:srgbClr val="232323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710" name="Google Shape;710;p42">
            <a:extLst>
              <a:ext uri="{FF2B5EF4-FFF2-40B4-BE49-F238E27FC236}">
                <a16:creationId xmlns:a16="http://schemas.microsoft.com/office/drawing/2014/main" id="{C6CF2AAC-D788-C843-DEAE-6AE2CC211A60}"/>
              </a:ext>
            </a:extLst>
          </p:cNvPr>
          <p:cNvGraphicFramePr/>
          <p:nvPr/>
        </p:nvGraphicFramePr>
        <p:xfrm>
          <a:off x="304800" y="914400"/>
          <a:ext cx="8001000" cy="2200275"/>
        </p:xfrm>
        <a:graphic>
          <a:graphicData uri="http://schemas.openxmlformats.org/drawingml/2006/table">
            <a:tbl>
              <a:tblPr>
                <a:noFill/>
                <a:tableStyleId>{7E5F0806-02EA-4D6C-AF6C-89032A93FBB4}</a:tableStyleId>
              </a:tblPr>
              <a:tblGrid>
                <a:gridCol w="3133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38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29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00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Scheme Name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Buy Value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solidFill>
                            <a:srgbClr val="939393"/>
                          </a:solidFill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Reason</a:t>
                      </a:r>
                      <a:endParaRPr sz="900">
                        <a:solidFill>
                          <a:srgbClr val="939393"/>
                        </a:solidFill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Invesco India Smallcap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11.9L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HDFC Mid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11.9L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Invesco India Midcap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11.9L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HDFC Flexi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Parag Parikh Flexi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ICICI Prudential Value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SBI Contra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Nippon India Large Cap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HDFC Balanced Advantage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Quant Multi Asset Allocation Fund Direct Growth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15.8L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900">
                          <a:latin typeface="IBM Plex Sans"/>
                          <a:ea typeface="IBM Plex Sans"/>
                          <a:cs typeface="IBM Plex Sans"/>
                          <a:sym typeface="IBM Plex Sans"/>
                        </a:rPr>
                        <a:t>Risk group allocation + SIP allocation</a:t>
                      </a:r>
                      <a:endParaRPr sz="900">
                        <a:latin typeface="IBM Plex Sans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28575" marR="28575" marT="19050" marB="19050" anchor="b">
                    <a:lnL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79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3661163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2622</Words>
  <Application>Microsoft Office PowerPoint</Application>
  <PresentationFormat>On-screen Show (16:9)</PresentationFormat>
  <Paragraphs>679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40" baseType="lpstr">
      <vt:lpstr>IBM Plex Sans Medium</vt:lpstr>
      <vt:lpstr>Arial</vt:lpstr>
      <vt:lpstr>IBM Plex Sans</vt:lpstr>
      <vt:lpstr>Calibri</vt:lpstr>
      <vt:lpstr>IBM Plex Sans SemiBold</vt:lpstr>
      <vt:lpstr>IBM Plex Sans Light</vt:lpstr>
      <vt:lpstr>DM Sans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Krutang Thakor</cp:lastModifiedBy>
  <cp:revision>3</cp:revision>
  <dcterms:modified xsi:type="dcterms:W3CDTF">2026-03-30T13:56:23Z</dcterms:modified>
</cp:coreProperties>
</file>